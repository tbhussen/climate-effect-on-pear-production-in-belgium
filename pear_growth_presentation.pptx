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669" autoAdjust="0"/>
  </p:normalViewPr>
  <p:slideViewPr>
    <p:cSldViewPr snapToGrid="0" snapToObjects="1">
      <p:cViewPr varScale="1">
        <p:scale>
          <a:sx n="60" d="100"/>
          <a:sy n="60" d="100"/>
        </p:scale>
        <p:origin x="1090" y="53"/>
      </p:cViewPr>
      <p:guideLst/>
    </p:cSldViewPr>
  </p:slideViewPr>
  <p:notesTextViewPr>
    <p:cViewPr>
      <p:scale>
        <a:sx n="1" d="1"/>
        <a:sy n="1" d="1"/>
      </p:scale>
      <p:origin x="0" y="-430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S1 Conference</c:v>
                </c:pt>
              </c:strCache>
            </c:strRef>
          </c:tx>
          <c:spPr>
            <a:ln w="31750" cap="flat">
              <a:solidFill>
                <a:srgbClr val="7B2D8B"/>
              </a:solidFill>
              <a:prstDash val="solid"/>
              <a:round/>
            </a:ln>
            <a:effectLst/>
          </c:spPr>
          <c:marker>
            <c:symbol val="circle"/>
            <c:size val="6"/>
            <c:spPr>
              <a:solidFill>
                <a:srgbClr val="7B2D8B"/>
              </a:solidFill>
              <a:ln w="9525" cap="flat">
                <a:solidFill>
                  <a:srgbClr val="7B2D8B"/>
                </a:solidFill>
                <a:prstDash val="solid"/>
                <a:round/>
              </a:ln>
              <a:effectLst/>
            </c:spPr>
          </c:marker>
          <c:cat>
            <c:strRef>
              <c:f>Sheet1!$A$2:$A$11</c:f>
              <c:strCache>
                <c:ptCount val="10"/>
                <c:pt idx="0">
                  <c:v>5</c:v>
                </c:pt>
                <c:pt idx="1">
                  <c:v>7</c:v>
                </c:pt>
                <c:pt idx="2">
                  <c:v>9</c:v>
                </c:pt>
                <c:pt idx="3">
                  <c:v>11</c:v>
                </c:pt>
                <c:pt idx="4">
                  <c:v>13</c:v>
                </c:pt>
                <c:pt idx="5">
                  <c:v>15</c:v>
                </c:pt>
                <c:pt idx="6">
                  <c:v>17</c:v>
                </c:pt>
                <c:pt idx="7">
                  <c:v>19</c:v>
                </c:pt>
                <c:pt idx="8">
                  <c:v>21</c:v>
                </c:pt>
                <c:pt idx="9">
                  <c:v>23</c:v>
                </c:pt>
              </c:strCache>
            </c:strRef>
          </c:cat>
          <c:val>
            <c:numRef>
              <c:f>Sheet1!$B$2:$B$11</c:f>
              <c:numCache>
                <c:formatCode>General</c:formatCode>
                <c:ptCount val="10"/>
                <c:pt idx="0">
                  <c:v>4.0019999999999998</c:v>
                </c:pt>
                <c:pt idx="1">
                  <c:v>4.62</c:v>
                </c:pt>
                <c:pt idx="2">
                  <c:v>5.2329999999999997</c:v>
                </c:pt>
                <c:pt idx="3">
                  <c:v>5.8419999999999996</c:v>
                </c:pt>
                <c:pt idx="4">
                  <c:v>6.4450000000000003</c:v>
                </c:pt>
                <c:pt idx="5">
                  <c:v>7.0439999999999996</c:v>
                </c:pt>
                <c:pt idx="6">
                  <c:v>7.6379999999999999</c:v>
                </c:pt>
                <c:pt idx="7">
                  <c:v>8.2270000000000003</c:v>
                </c:pt>
                <c:pt idx="8">
                  <c:v>8.8119999999999994</c:v>
                </c:pt>
                <c:pt idx="9">
                  <c:v>9.391</c:v>
                </c:pt>
              </c:numCache>
            </c:numRef>
          </c:val>
          <c:smooth val="0"/>
          <c:extLst>
            <c:ext xmlns:c16="http://schemas.microsoft.com/office/drawing/2014/chart" uri="{C3380CC4-5D6E-409C-BE32-E72D297353CC}">
              <c16:uniqueId val="{00000000-FB36-47BE-BBAC-9069F7536387}"/>
            </c:ext>
          </c:extLst>
        </c:ser>
        <c:ser>
          <c:idx val="1"/>
          <c:order val="1"/>
          <c:tx>
            <c:strRef>
              <c:f>Sheet1!$C$1</c:f>
              <c:strCache>
                <c:ptCount val="1"/>
                <c:pt idx="0">
                  <c:v>S2 Conference</c:v>
                </c:pt>
              </c:strCache>
            </c:strRef>
          </c:tx>
          <c:spPr>
            <a:ln w="31750" cap="flat">
              <a:solidFill>
                <a:srgbClr val="2D9E6B"/>
              </a:solidFill>
              <a:prstDash val="solid"/>
              <a:round/>
            </a:ln>
            <a:effectLst/>
          </c:spPr>
          <c:marker>
            <c:symbol val="circle"/>
            <c:size val="6"/>
            <c:spPr>
              <a:solidFill>
                <a:srgbClr val="2D9E6B"/>
              </a:solidFill>
              <a:ln w="9525" cap="flat">
                <a:solidFill>
                  <a:srgbClr val="2D9E6B"/>
                </a:solidFill>
                <a:prstDash val="solid"/>
                <a:round/>
              </a:ln>
              <a:effectLst/>
            </c:spPr>
          </c:marker>
          <c:cat>
            <c:strRef>
              <c:f>Sheet1!$A$2:$A$11</c:f>
              <c:strCache>
                <c:ptCount val="10"/>
                <c:pt idx="0">
                  <c:v>5</c:v>
                </c:pt>
                <c:pt idx="1">
                  <c:v>7</c:v>
                </c:pt>
                <c:pt idx="2">
                  <c:v>9</c:v>
                </c:pt>
                <c:pt idx="3">
                  <c:v>11</c:v>
                </c:pt>
                <c:pt idx="4">
                  <c:v>13</c:v>
                </c:pt>
                <c:pt idx="5">
                  <c:v>15</c:v>
                </c:pt>
                <c:pt idx="6">
                  <c:v>17</c:v>
                </c:pt>
                <c:pt idx="7">
                  <c:v>19</c:v>
                </c:pt>
                <c:pt idx="8">
                  <c:v>21</c:v>
                </c:pt>
                <c:pt idx="9">
                  <c:v>23</c:v>
                </c:pt>
              </c:strCache>
            </c:strRef>
          </c:cat>
          <c:val>
            <c:numRef>
              <c:f>Sheet1!$C$2:$C$11</c:f>
              <c:numCache>
                <c:formatCode>General</c:formatCode>
                <c:ptCount val="10"/>
                <c:pt idx="0">
                  <c:v>4.1719999999999997</c:v>
                </c:pt>
                <c:pt idx="1">
                  <c:v>4.891</c:v>
                </c:pt>
                <c:pt idx="2">
                  <c:v>5.6059999999999999</c:v>
                </c:pt>
                <c:pt idx="3">
                  <c:v>6.3150000000000004</c:v>
                </c:pt>
                <c:pt idx="4">
                  <c:v>7.02</c:v>
                </c:pt>
                <c:pt idx="5">
                  <c:v>7.72</c:v>
                </c:pt>
                <c:pt idx="6">
                  <c:v>8.4149999999999991</c:v>
                </c:pt>
                <c:pt idx="7">
                  <c:v>9.1059999999999999</c:v>
                </c:pt>
                <c:pt idx="8">
                  <c:v>9.7910000000000004</c:v>
                </c:pt>
                <c:pt idx="9">
                  <c:v>10.472</c:v>
                </c:pt>
              </c:numCache>
            </c:numRef>
          </c:val>
          <c:smooth val="0"/>
          <c:extLst>
            <c:ext xmlns:c16="http://schemas.microsoft.com/office/drawing/2014/chart" uri="{C3380CC4-5D6E-409C-BE32-E72D297353CC}">
              <c16:uniqueId val="{00000001-FB36-47BE-BBAC-9069F7536387}"/>
            </c:ext>
          </c:extLst>
        </c:ser>
        <c:ser>
          <c:idx val="2"/>
          <c:order val="2"/>
          <c:tx>
            <c:strRef>
              <c:f>Sheet1!$D$1</c:f>
              <c:strCache>
                <c:ptCount val="1"/>
                <c:pt idx="0">
                  <c:v>S3 Conference</c:v>
                </c:pt>
              </c:strCache>
            </c:strRef>
          </c:tx>
          <c:spPr>
            <a:ln w="31750" cap="flat">
              <a:solidFill>
                <a:srgbClr val="E07020"/>
              </a:solidFill>
              <a:prstDash val="solid"/>
              <a:round/>
            </a:ln>
            <a:effectLst/>
          </c:spPr>
          <c:marker>
            <c:symbol val="circle"/>
            <c:size val="6"/>
            <c:spPr>
              <a:solidFill>
                <a:srgbClr val="E07020"/>
              </a:solidFill>
              <a:ln w="9525" cap="flat">
                <a:solidFill>
                  <a:srgbClr val="E07020"/>
                </a:solidFill>
                <a:prstDash val="solid"/>
                <a:round/>
              </a:ln>
              <a:effectLst/>
            </c:spPr>
          </c:marker>
          <c:cat>
            <c:strRef>
              <c:f>Sheet1!$A$2:$A$11</c:f>
              <c:strCache>
                <c:ptCount val="10"/>
                <c:pt idx="0">
                  <c:v>5</c:v>
                </c:pt>
                <c:pt idx="1">
                  <c:v>7</c:v>
                </c:pt>
                <c:pt idx="2">
                  <c:v>9</c:v>
                </c:pt>
                <c:pt idx="3">
                  <c:v>11</c:v>
                </c:pt>
                <c:pt idx="4">
                  <c:v>13</c:v>
                </c:pt>
                <c:pt idx="5">
                  <c:v>15</c:v>
                </c:pt>
                <c:pt idx="6">
                  <c:v>17</c:v>
                </c:pt>
                <c:pt idx="7">
                  <c:v>19</c:v>
                </c:pt>
                <c:pt idx="8">
                  <c:v>21</c:v>
                </c:pt>
                <c:pt idx="9">
                  <c:v>23</c:v>
                </c:pt>
              </c:strCache>
            </c:strRef>
          </c:cat>
          <c:val>
            <c:numRef>
              <c:f>Sheet1!$D$2:$D$11</c:f>
              <c:numCache>
                <c:formatCode>General</c:formatCode>
                <c:ptCount val="10"/>
                <c:pt idx="0">
                  <c:v>3.9119999999999999</c:v>
                </c:pt>
                <c:pt idx="1">
                  <c:v>4.5289999999999999</c:v>
                </c:pt>
                <c:pt idx="2">
                  <c:v>5.141</c:v>
                </c:pt>
                <c:pt idx="3">
                  <c:v>5.7480000000000002</c:v>
                </c:pt>
                <c:pt idx="4">
                  <c:v>6.351</c:v>
                </c:pt>
                <c:pt idx="5">
                  <c:v>6.9480000000000004</c:v>
                </c:pt>
                <c:pt idx="6">
                  <c:v>7.5410000000000004</c:v>
                </c:pt>
                <c:pt idx="7">
                  <c:v>8.1289999999999996</c:v>
                </c:pt>
                <c:pt idx="8">
                  <c:v>8.7119999999999997</c:v>
                </c:pt>
                <c:pt idx="9">
                  <c:v>9.2910000000000004</c:v>
                </c:pt>
              </c:numCache>
            </c:numRef>
          </c:val>
          <c:smooth val="0"/>
          <c:extLst>
            <c:ext xmlns:c16="http://schemas.microsoft.com/office/drawing/2014/chart" uri="{C3380CC4-5D6E-409C-BE32-E72D297353CC}">
              <c16:uniqueId val="{00000002-FB36-47BE-BBAC-9069F7536387}"/>
            </c:ext>
          </c:extLst>
        </c:ser>
        <c:ser>
          <c:idx val="3"/>
          <c:order val="3"/>
          <c:tx>
            <c:strRef>
              <c:f>Sheet1!$E$1</c:f>
              <c:strCache>
                <c:ptCount val="1"/>
                <c:pt idx="0">
                  <c:v>S4 Conference</c:v>
                </c:pt>
              </c:strCache>
            </c:strRef>
          </c:tx>
          <c:spPr>
            <a:ln w="31750" cap="flat">
              <a:solidFill>
                <a:srgbClr val="1A72B8"/>
              </a:solidFill>
              <a:prstDash val="solid"/>
              <a:round/>
            </a:ln>
            <a:effectLst/>
          </c:spPr>
          <c:marker>
            <c:symbol val="circle"/>
            <c:size val="6"/>
            <c:spPr>
              <a:solidFill>
                <a:srgbClr val="1A72B8"/>
              </a:solidFill>
              <a:ln w="9525" cap="flat">
                <a:solidFill>
                  <a:srgbClr val="1A72B8"/>
                </a:solidFill>
                <a:prstDash val="solid"/>
                <a:round/>
              </a:ln>
              <a:effectLst/>
            </c:spPr>
          </c:marker>
          <c:cat>
            <c:strRef>
              <c:f>Sheet1!$A$2:$A$11</c:f>
              <c:strCache>
                <c:ptCount val="10"/>
                <c:pt idx="0">
                  <c:v>5</c:v>
                </c:pt>
                <c:pt idx="1">
                  <c:v>7</c:v>
                </c:pt>
                <c:pt idx="2">
                  <c:v>9</c:v>
                </c:pt>
                <c:pt idx="3">
                  <c:v>11</c:v>
                </c:pt>
                <c:pt idx="4">
                  <c:v>13</c:v>
                </c:pt>
                <c:pt idx="5">
                  <c:v>15</c:v>
                </c:pt>
                <c:pt idx="6">
                  <c:v>17</c:v>
                </c:pt>
                <c:pt idx="7">
                  <c:v>19</c:v>
                </c:pt>
                <c:pt idx="8">
                  <c:v>21</c:v>
                </c:pt>
                <c:pt idx="9">
                  <c:v>23</c:v>
                </c:pt>
              </c:strCache>
            </c:strRef>
          </c:cat>
          <c:val>
            <c:numRef>
              <c:f>Sheet1!$E$2:$E$11</c:f>
              <c:numCache>
                <c:formatCode>General</c:formatCode>
                <c:ptCount val="10"/>
                <c:pt idx="0">
                  <c:v>4.0419999999999998</c:v>
                </c:pt>
                <c:pt idx="1">
                  <c:v>4.6909999999999998</c:v>
                </c:pt>
                <c:pt idx="2">
                  <c:v>5.3339999999999996</c:v>
                </c:pt>
                <c:pt idx="3">
                  <c:v>5.9729999999999999</c:v>
                </c:pt>
                <c:pt idx="4">
                  <c:v>6.6070000000000002</c:v>
                </c:pt>
                <c:pt idx="5">
                  <c:v>7.2359999999999998</c:v>
                </c:pt>
                <c:pt idx="6">
                  <c:v>7.8609999999999998</c:v>
                </c:pt>
                <c:pt idx="7">
                  <c:v>8.48</c:v>
                </c:pt>
                <c:pt idx="8">
                  <c:v>9.0950000000000006</c:v>
                </c:pt>
                <c:pt idx="9">
                  <c:v>9.7050000000000001</c:v>
                </c:pt>
              </c:numCache>
            </c:numRef>
          </c:val>
          <c:smooth val="0"/>
          <c:extLst>
            <c:ext xmlns:c16="http://schemas.microsoft.com/office/drawing/2014/chart" uri="{C3380CC4-5D6E-409C-BE32-E72D297353CC}">
              <c16:uniqueId val="{00000003-FB36-47BE-BBAC-9069F7536387}"/>
            </c:ext>
          </c:extLst>
        </c:ser>
        <c:ser>
          <c:idx val="4"/>
          <c:order val="4"/>
          <c:tx>
            <c:strRef>
              <c:f>Sheet1!$F$1</c:f>
              <c:strCache>
                <c:ptCount val="1"/>
                <c:pt idx="0">
                  <c:v>S1 Doyenne</c:v>
                </c:pt>
              </c:strCache>
            </c:strRef>
          </c:tx>
          <c:spPr>
            <a:ln w="31750" cap="flat">
              <a:solidFill>
                <a:srgbClr val="999999"/>
              </a:solidFill>
              <a:prstDash val="solid"/>
              <a:round/>
            </a:ln>
            <a:effectLst/>
          </c:spPr>
          <c:marker>
            <c:symbol val="circle"/>
            <c:size val="6"/>
            <c:spPr>
              <a:solidFill>
                <a:srgbClr val="999999"/>
              </a:solidFill>
              <a:ln w="9525" cap="flat">
                <a:solidFill>
                  <a:srgbClr val="999999"/>
                </a:solidFill>
                <a:prstDash val="solid"/>
                <a:round/>
              </a:ln>
              <a:effectLst/>
            </c:spPr>
          </c:marker>
          <c:cat>
            <c:strRef>
              <c:f>Sheet1!$A$2:$A$11</c:f>
              <c:strCache>
                <c:ptCount val="10"/>
                <c:pt idx="0">
                  <c:v>5</c:v>
                </c:pt>
                <c:pt idx="1">
                  <c:v>7</c:v>
                </c:pt>
                <c:pt idx="2">
                  <c:v>9</c:v>
                </c:pt>
                <c:pt idx="3">
                  <c:v>11</c:v>
                </c:pt>
                <c:pt idx="4">
                  <c:v>13</c:v>
                </c:pt>
                <c:pt idx="5">
                  <c:v>15</c:v>
                </c:pt>
                <c:pt idx="6">
                  <c:v>17</c:v>
                </c:pt>
                <c:pt idx="7">
                  <c:v>19</c:v>
                </c:pt>
                <c:pt idx="8">
                  <c:v>21</c:v>
                </c:pt>
                <c:pt idx="9">
                  <c:v>23</c:v>
                </c:pt>
              </c:strCache>
            </c:strRef>
          </c:cat>
          <c:val>
            <c:numRef>
              <c:f>Sheet1!$F$2:$F$11</c:f>
              <c:numCache>
                <c:formatCode>General</c:formatCode>
                <c:ptCount val="10"/>
                <c:pt idx="0">
                  <c:v>3.3090000000000002</c:v>
                </c:pt>
                <c:pt idx="1">
                  <c:v>3.8490000000000002</c:v>
                </c:pt>
                <c:pt idx="2">
                  <c:v>4.3789999999999996</c:v>
                </c:pt>
                <c:pt idx="3">
                  <c:v>4.899</c:v>
                </c:pt>
                <c:pt idx="4">
                  <c:v>5.4080000000000004</c:v>
                </c:pt>
                <c:pt idx="5">
                  <c:v>5.907</c:v>
                </c:pt>
                <c:pt idx="6">
                  <c:v>6.3949999999999996</c:v>
                </c:pt>
                <c:pt idx="7">
                  <c:v>6.8730000000000002</c:v>
                </c:pt>
                <c:pt idx="8">
                  <c:v>7.3410000000000002</c:v>
                </c:pt>
                <c:pt idx="9">
                  <c:v>7.798</c:v>
                </c:pt>
              </c:numCache>
            </c:numRef>
          </c:val>
          <c:smooth val="0"/>
          <c:extLst>
            <c:ext xmlns:c16="http://schemas.microsoft.com/office/drawing/2014/chart" uri="{C3380CC4-5D6E-409C-BE32-E72D297353CC}">
              <c16:uniqueId val="{00000004-FB36-47BE-BBAC-9069F7536387}"/>
            </c:ext>
          </c:extLst>
        </c:ser>
        <c:ser>
          <c:idx val="5"/>
          <c:order val="5"/>
          <c:tx>
            <c:strRef>
              <c:f>Sheet1!$G$1</c:f>
              <c:strCache>
                <c:ptCount val="1"/>
                <c:pt idx="0">
                  <c:v>S2 Doyenne</c:v>
                </c:pt>
              </c:strCache>
            </c:strRef>
          </c:tx>
          <c:spPr>
            <a:ln w="31750" cap="flat">
              <a:solidFill>
                <a:srgbClr val="74C69D"/>
              </a:solidFill>
              <a:prstDash val="solid"/>
              <a:round/>
            </a:ln>
            <a:effectLst/>
          </c:spPr>
          <c:marker>
            <c:symbol val="circle"/>
            <c:size val="6"/>
            <c:spPr>
              <a:solidFill>
                <a:srgbClr val="74C69D"/>
              </a:solidFill>
              <a:ln w="9525" cap="flat">
                <a:solidFill>
                  <a:srgbClr val="74C69D"/>
                </a:solidFill>
                <a:prstDash val="solid"/>
                <a:round/>
              </a:ln>
              <a:effectLst/>
            </c:spPr>
          </c:marker>
          <c:cat>
            <c:strRef>
              <c:f>Sheet1!$A$2:$A$11</c:f>
              <c:strCache>
                <c:ptCount val="10"/>
                <c:pt idx="0">
                  <c:v>5</c:v>
                </c:pt>
                <c:pt idx="1">
                  <c:v>7</c:v>
                </c:pt>
                <c:pt idx="2">
                  <c:v>9</c:v>
                </c:pt>
                <c:pt idx="3">
                  <c:v>11</c:v>
                </c:pt>
                <c:pt idx="4">
                  <c:v>13</c:v>
                </c:pt>
                <c:pt idx="5">
                  <c:v>15</c:v>
                </c:pt>
                <c:pt idx="6">
                  <c:v>17</c:v>
                </c:pt>
                <c:pt idx="7">
                  <c:v>19</c:v>
                </c:pt>
                <c:pt idx="8">
                  <c:v>21</c:v>
                </c:pt>
                <c:pt idx="9">
                  <c:v>23</c:v>
                </c:pt>
              </c:strCache>
            </c:strRef>
          </c:cat>
          <c:val>
            <c:numRef>
              <c:f>Sheet1!$G$2:$G$11</c:f>
              <c:numCache>
                <c:formatCode>General</c:formatCode>
                <c:ptCount val="10"/>
                <c:pt idx="0">
                  <c:v>3.4790000000000001</c:v>
                </c:pt>
                <c:pt idx="1">
                  <c:v>4.12</c:v>
                </c:pt>
                <c:pt idx="2">
                  <c:v>4.7519999999999998</c:v>
                </c:pt>
                <c:pt idx="3">
                  <c:v>5.3719999999999999</c:v>
                </c:pt>
                <c:pt idx="4">
                  <c:v>5.9829999999999997</c:v>
                </c:pt>
                <c:pt idx="5">
                  <c:v>6.5830000000000002</c:v>
                </c:pt>
                <c:pt idx="6">
                  <c:v>7.1719999999999997</c:v>
                </c:pt>
                <c:pt idx="7">
                  <c:v>7.7519999999999998</c:v>
                </c:pt>
                <c:pt idx="8">
                  <c:v>8.32</c:v>
                </c:pt>
                <c:pt idx="9">
                  <c:v>8.8789999999999996</c:v>
                </c:pt>
              </c:numCache>
            </c:numRef>
          </c:val>
          <c:smooth val="0"/>
          <c:extLst>
            <c:ext xmlns:c16="http://schemas.microsoft.com/office/drawing/2014/chart" uri="{C3380CC4-5D6E-409C-BE32-E72D297353CC}">
              <c16:uniqueId val="{00000005-FB36-47BE-BBAC-9069F753638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Week</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Mean Pear Size</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828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Title~15 sec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"Good [morning/afternoon]. This presentation covers Section 3.5 of our group report — the effect of climate conditions on pear size over time. I'll start with a brief overview of the broader study before focusing on the growth analysis."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Research context~25 sec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broader study asked: which of four 2070 climate scenarios is most favorable for pear production? The four scenarios range from no intervention, to active CO₂ removal, sustainable energy, and transport-focused policies. Within this context, our sub-analysis focuses on two questions: how do these climate conditions affect pear size over time, and do the two varieties — Conference and Doyenne — grow at different rates?"</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3 Study design~30 sec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data has a three-level structure: </a:t>
            </a:r>
            <a:r>
              <a:rPr lang="en-US" sz="1200" kern="1200" dirty="0" err="1">
                <a:solidFill>
                  <a:schemeClr val="tx1"/>
                </a:solidFill>
                <a:effectLst/>
                <a:latin typeface="+mn-lt"/>
                <a:ea typeface="+mn-ea"/>
                <a:cs typeface="+mn-cs"/>
              </a:rPr>
              <a:t>ecotrons</a:t>
            </a:r>
            <a:r>
              <a:rPr lang="en-US" sz="1200" kern="1200" dirty="0">
                <a:solidFill>
                  <a:schemeClr val="tx1"/>
                </a:solidFill>
                <a:effectLst/>
                <a:latin typeface="+mn-lt"/>
                <a:ea typeface="+mn-ea"/>
                <a:cs typeface="+mn-cs"/>
              </a:rPr>
              <a:t> contain trees, trees contain pears, and each pear was measured weekly from week 5 to week 24. Looking at the data table, each </a:t>
            </a:r>
            <a:r>
              <a:rPr lang="en-US" sz="1200" kern="1200" dirty="0" err="1">
                <a:solidFill>
                  <a:schemeClr val="tx1"/>
                </a:solidFill>
                <a:effectLst/>
                <a:latin typeface="+mn-lt"/>
                <a:ea typeface="+mn-ea"/>
                <a:cs typeface="+mn-cs"/>
              </a:rPr>
              <a:t>ecotron</a:t>
            </a:r>
            <a:r>
              <a:rPr lang="en-US" sz="1200" kern="1200" dirty="0">
                <a:solidFill>
                  <a:schemeClr val="tx1"/>
                </a:solidFill>
                <a:effectLst/>
                <a:latin typeface="+mn-lt"/>
                <a:ea typeface="+mn-ea"/>
                <a:cs typeface="+mn-cs"/>
              </a:rPr>
              <a:t> holds exactly two trees — and those trees contribute between 16 and 27 observations each. This nesting means observations within the same pear are not independent, this was later confirmed by the ICC of 0.47 showing that nearly half of the variability in pear size is between-pear variation. That motivated the use of a mixed-effects model."</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4 Modelling approach~35 sec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final model includes fixed effects for climate scenario, linear and quadratic week terms, variety, and a set of their interactions. An important step was week centering around its mean. At the random-effects level, each pear gets its own intercept and slope, capturing the fact that pears differ not just in starting size but in how fast they grow. Of five candidate models compared by AIC and BIC, this centered quadratic model had the best fit by a clear margin."</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5 Pear growth over time~45 sec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following chart shows the model-implied growth trajectories. All lines grow upward — pear size increases throughout the study — but the slopes differ clearly by scenario. Scenario 2, CO₂ removal, stands out: pears start larger and grow faster, with a +0.651 baseline advantage and a +0.051 per week slope increase over Scenario 1. Scenario 4 shows a moderate gain in both. Scenario 3, by contrast, has a slightly lower baseline and its growth rate is statistically indistinguishable from the no-intervention control. The Doyenne lines sit below the Conference lines throughout — smaller at baseline and growing more slowly."</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6 Key model results~35 sec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table confirms what the chart shows. Time has a strong positive linear effect. For climate, all comparisons are against Scenario 1. Scenario 2 is the standout — both its baseline and interaction with week are highly significant. Scenario 3's interaction term is essentially zero with p = 0.885 — no growth-rate difference from the reference. The variety block shows Doyenne is 1.112 units smaller on average, with a slope 0.051 units per week lower. On the right, the random effects show meaningful between-pear variance in both intercept and slope, and a correlation of 0.70 — pears that start bigger tend to grow faster."</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7 Limitations &amp; future work~25 sec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"Three limitations are worth flagging. First, the sample is small — only four </a:t>
            </a:r>
            <a:r>
              <a:rPr lang="en-US" sz="1200" kern="1200" dirty="0" err="1">
                <a:solidFill>
                  <a:schemeClr val="tx1"/>
                </a:solidFill>
                <a:effectLst/>
                <a:latin typeface="+mn-lt"/>
                <a:ea typeface="+mn-ea"/>
                <a:cs typeface="+mn-cs"/>
              </a:rPr>
              <a:t>ecotrons</a:t>
            </a:r>
            <a:r>
              <a:rPr lang="en-US" sz="1200" kern="1200" dirty="0">
                <a:solidFill>
                  <a:schemeClr val="tx1"/>
                </a:solidFill>
                <a:effectLst/>
                <a:latin typeface="+mn-lt"/>
                <a:ea typeface="+mn-ea"/>
                <a:cs typeface="+mn-cs"/>
              </a:rPr>
              <a:t> with two trees each, which is insufficient to reliably estimate tree- and </a:t>
            </a:r>
            <a:r>
              <a:rPr lang="en-US" sz="1200" kern="1200" dirty="0" err="1">
                <a:solidFill>
                  <a:schemeClr val="tx1"/>
                </a:solidFill>
                <a:effectLst/>
                <a:latin typeface="+mn-lt"/>
                <a:ea typeface="+mn-ea"/>
                <a:cs typeface="+mn-cs"/>
              </a:rPr>
              <a:t>ecotron</a:t>
            </a:r>
            <a:r>
              <a:rPr lang="en-US" sz="1200" kern="1200" dirty="0">
                <a:solidFill>
                  <a:schemeClr val="tx1"/>
                </a:solidFill>
                <a:effectLst/>
                <a:latin typeface="+mn-lt"/>
                <a:ea typeface="+mn-ea"/>
                <a:cs typeface="+mn-cs"/>
              </a:rPr>
              <a:t>-level variance. Second, and more fundamentally, climate is assigned at the </a:t>
            </a:r>
            <a:r>
              <a:rPr lang="en-US" sz="1200" kern="1200" dirty="0" err="1">
                <a:solidFill>
                  <a:schemeClr val="tx1"/>
                </a:solidFill>
                <a:effectLst/>
                <a:latin typeface="+mn-lt"/>
                <a:ea typeface="+mn-ea"/>
                <a:cs typeface="+mn-cs"/>
              </a:rPr>
              <a:t>ecotron</a:t>
            </a:r>
            <a:r>
              <a:rPr lang="en-US" sz="1200" kern="1200" dirty="0">
                <a:solidFill>
                  <a:schemeClr val="tx1"/>
                </a:solidFill>
                <a:effectLst/>
                <a:latin typeface="+mn-lt"/>
                <a:ea typeface="+mn-ea"/>
                <a:cs typeface="+mn-cs"/>
              </a:rPr>
              <a:t> level, so to properly isolate the climate effect we would need random effects at the </a:t>
            </a:r>
            <a:r>
              <a:rPr lang="en-US" sz="1200" kern="1200" dirty="0" err="1">
                <a:solidFill>
                  <a:schemeClr val="tx1"/>
                </a:solidFill>
                <a:effectLst/>
                <a:latin typeface="+mn-lt"/>
                <a:ea typeface="+mn-ea"/>
                <a:cs typeface="+mn-cs"/>
              </a:rPr>
              <a:t>ecotron</a:t>
            </a:r>
            <a:r>
              <a:rPr lang="en-US" sz="1200" kern="1200" dirty="0">
                <a:solidFill>
                  <a:schemeClr val="tx1"/>
                </a:solidFill>
                <a:effectLst/>
                <a:latin typeface="+mn-lt"/>
                <a:ea typeface="+mn-ea"/>
                <a:cs typeface="+mn-cs"/>
              </a:rPr>
              <a:t> level — but we don't have enough </a:t>
            </a:r>
            <a:r>
              <a:rPr lang="en-US" sz="1200" kern="1200" dirty="0" err="1">
                <a:solidFill>
                  <a:schemeClr val="tx1"/>
                </a:solidFill>
                <a:effectLst/>
                <a:latin typeface="+mn-lt"/>
                <a:ea typeface="+mn-ea"/>
                <a:cs typeface="+mn-cs"/>
              </a:rPr>
              <a:t>ecotrons</a:t>
            </a:r>
            <a:r>
              <a:rPr lang="en-US" sz="1200" kern="1200" dirty="0">
                <a:solidFill>
                  <a:schemeClr val="tx1"/>
                </a:solidFill>
                <a:effectLst/>
                <a:latin typeface="+mn-lt"/>
                <a:ea typeface="+mn-ea"/>
                <a:cs typeface="+mn-cs"/>
              </a:rPr>
              <a:t> for that. Future work should increase replication, use formal pairwise contrasts for pairwise comparisons between climate scenarios, and consider GEE as a sensitivity check, and of similar importance is tracking the soil measurements by time to be able to clearly distinguish direct climate effects."</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8 Conclusion~15 sec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conclude: climate scenario significantly affects pear growth, primarily through differences in linear growth rates. Scenario 2 — active CO₂ removal — is the most favorable condition, producing the largest and fastest-growing pears, which is in line with conclusions from other pear-related analysis described in the report. Scenario 4 offers a moderate advantage, while Scenario 3 is indistinguishable from no intervention. Doyenne pears are consistently smaller and slower-growing than Conference across all scenarios. </a:t>
            </a:r>
            <a:r>
              <a:rPr lang="en-US" sz="1200" kern="1200">
                <a:solidFill>
                  <a:schemeClr val="tx1"/>
                </a:solidFill>
                <a:effectLst/>
                <a:latin typeface="+mn-lt"/>
                <a:ea typeface="+mn-ea"/>
                <a:cs typeface="+mn-cs"/>
              </a:rPr>
              <a:t>Thank you."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2D6A4F">
              <a:alpha val="60000"/>
            </a:srgbClr>
          </a:solidFill>
          <a:ln w="12700">
            <a:solidFill>
              <a:srgbClr val="2D6A4F">
                <a:alpha val="60000"/>
              </a:srgbClr>
            </a:solidFill>
            <a:prstDash val="solid"/>
          </a:ln>
        </p:spPr>
      </p:sp>
      <p:sp>
        <p:nvSpPr>
          <p:cNvPr id="3" name="Shape 1"/>
          <p:cNvSpPr/>
          <p:nvPr/>
        </p:nvSpPr>
        <p:spPr>
          <a:xfrm>
            <a:off x="7772400" y="2926080"/>
            <a:ext cx="2011680" cy="2011680"/>
          </a:xfrm>
          <a:prstGeom prst="ellipse">
            <a:avLst/>
          </a:prstGeom>
          <a:solidFill>
            <a:srgbClr val="52B788">
              <a:alpha val="50000"/>
            </a:srgbClr>
          </a:solidFill>
          <a:ln w="12700">
            <a:solidFill>
              <a:srgbClr val="52B788">
                <a:alpha val="50000"/>
              </a:srgbClr>
            </a:solidFill>
            <a:prstDash val="solid"/>
          </a:ln>
        </p:spPr>
      </p:sp>
      <p:pic>
        <p:nvPicPr>
          <p:cNvPr id="4" name="Image 0" descr="preencoded.png"/>
          <p:cNvPicPr>
            <a:picLocks noChangeAspect="1"/>
          </p:cNvPicPr>
          <p:nvPr/>
        </p:nvPicPr>
        <p:blipFill>
          <a:blip r:embed="rId3"/>
          <a:stretch>
            <a:fillRect/>
          </a:stretch>
        </p:blipFill>
        <p:spPr>
          <a:xfrm>
            <a:off x="7406640" y="822960"/>
            <a:ext cx="1371600" cy="1371600"/>
          </a:xfrm>
          <a:prstGeom prst="rect">
            <a:avLst/>
          </a:prstGeom>
        </p:spPr>
      </p:pic>
      <p:sp>
        <p:nvSpPr>
          <p:cNvPr id="5" name="Text 2"/>
          <p:cNvSpPr/>
          <p:nvPr/>
        </p:nvSpPr>
        <p:spPr>
          <a:xfrm>
            <a:off x="548640" y="1005840"/>
            <a:ext cx="6583680" cy="82296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Pear Growth Over Time</a:t>
            </a:r>
            <a:endParaRPr lang="en-US" sz="3800" dirty="0"/>
          </a:p>
        </p:txBody>
      </p:sp>
      <p:sp>
        <p:nvSpPr>
          <p:cNvPr id="6" name="Text 3"/>
          <p:cNvSpPr/>
          <p:nvPr/>
        </p:nvSpPr>
        <p:spPr>
          <a:xfrm>
            <a:off x="548640" y="1920240"/>
            <a:ext cx="6583680" cy="502920"/>
          </a:xfrm>
          <a:prstGeom prst="rect">
            <a:avLst/>
          </a:prstGeom>
          <a:noFill/>
          <a:ln/>
        </p:spPr>
        <p:txBody>
          <a:bodyPr wrap="square" rtlCol="0" anchor="ctr"/>
          <a:lstStyle/>
          <a:p>
            <a:pPr marL="0" indent="0">
              <a:buNone/>
            </a:pPr>
            <a:r>
              <a:rPr lang="en-US" sz="1700" i="1" dirty="0">
                <a:solidFill>
                  <a:srgbClr val="D8F3DC"/>
                </a:solidFill>
                <a:latin typeface="Calibri" pitchFamily="34" charset="0"/>
                <a:ea typeface="Calibri" pitchFamily="34" charset="-122"/>
                <a:cs typeface="Calibri" pitchFamily="34" charset="-120"/>
              </a:rPr>
              <a:t>Effect of Climate Scenarios on Longitudinal Pear Size Trajectories</a:t>
            </a:r>
            <a:endParaRPr lang="en-US" sz="1700" dirty="0"/>
          </a:p>
        </p:txBody>
      </p:sp>
      <p:sp>
        <p:nvSpPr>
          <p:cNvPr id="7" name="Shape 4"/>
          <p:cNvSpPr/>
          <p:nvPr/>
        </p:nvSpPr>
        <p:spPr>
          <a:xfrm>
            <a:off x="548640" y="2542032"/>
            <a:ext cx="2011680" cy="36576"/>
          </a:xfrm>
          <a:prstGeom prst="rect">
            <a:avLst/>
          </a:prstGeom>
          <a:solidFill>
            <a:srgbClr val="52B788"/>
          </a:solidFill>
          <a:ln w="12700">
            <a:solidFill>
              <a:srgbClr val="52B788"/>
            </a:solidFill>
            <a:prstDash val="solid"/>
          </a:ln>
        </p:spPr>
      </p:sp>
      <p:sp>
        <p:nvSpPr>
          <p:cNvPr id="8" name="Text 5"/>
          <p:cNvSpPr/>
          <p:nvPr/>
        </p:nvSpPr>
        <p:spPr>
          <a:xfrm>
            <a:off x="548640" y="2697480"/>
            <a:ext cx="7772400" cy="365760"/>
          </a:xfrm>
          <a:prstGeom prst="rect">
            <a:avLst/>
          </a:prstGeom>
          <a:noFill/>
          <a:ln/>
        </p:spPr>
        <p:txBody>
          <a:bodyPr wrap="square" rtlCol="0" anchor="ctr"/>
          <a:lstStyle/>
          <a:p>
            <a:pPr marL="0" indent="0">
              <a:buNone/>
            </a:pPr>
            <a:r>
              <a:rPr lang="en-US" sz="1200" dirty="0">
                <a:solidFill>
                  <a:srgbClr val="52B788"/>
                </a:solidFill>
                <a:latin typeface="Calibri" pitchFamily="34" charset="0"/>
                <a:ea typeface="Calibri" pitchFamily="34" charset="-122"/>
                <a:cs typeface="Calibri" pitchFamily="34" charset="-120"/>
              </a:rPr>
              <a:t>Project: Multivariate and Hierarchical Data (3565)  |  </a:t>
            </a:r>
            <a:r>
              <a:rPr lang="en-US" sz="1200" b="1" dirty="0">
                <a:solidFill>
                  <a:srgbClr val="52B788"/>
                </a:solidFill>
                <a:latin typeface="Calibri" pitchFamily="34" charset="0"/>
                <a:ea typeface="Calibri" pitchFamily="34" charset="-122"/>
                <a:cs typeface="Calibri" pitchFamily="34" charset="-120"/>
              </a:rPr>
              <a:t>Group 19  |  Hasselt University  |  2025–2026</a:t>
            </a:r>
            <a:endParaRPr lang="en-US" sz="1200" dirty="0"/>
          </a:p>
        </p:txBody>
      </p:sp>
      <p:sp>
        <p:nvSpPr>
          <p:cNvPr id="9" name="Shape 6"/>
          <p:cNvSpPr/>
          <p:nvPr/>
        </p:nvSpPr>
        <p:spPr>
          <a:xfrm>
            <a:off x="548640" y="3246120"/>
            <a:ext cx="3840480" cy="594360"/>
          </a:xfrm>
          <a:prstGeom prst="rect">
            <a:avLst/>
          </a:prstGeom>
          <a:solidFill>
            <a:srgbClr val="2D6A4F"/>
          </a:solidFill>
          <a:ln w="12700">
            <a:solidFill>
              <a:srgbClr val="2D6A4F"/>
            </a:solidFill>
            <a:prstDash val="solid"/>
          </a:ln>
        </p:spPr>
      </p:sp>
      <p:sp>
        <p:nvSpPr>
          <p:cNvPr id="10" name="Text 7"/>
          <p:cNvSpPr/>
          <p:nvPr/>
        </p:nvSpPr>
        <p:spPr>
          <a:xfrm>
            <a:off x="685800" y="3246120"/>
            <a:ext cx="36576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Presenter: </a:t>
            </a:r>
            <a:r>
              <a:rPr lang="en-US" sz="1300" b="1" dirty="0">
                <a:solidFill>
                  <a:srgbClr val="FFFFFF"/>
                </a:solidFill>
                <a:latin typeface="Calibri" pitchFamily="34" charset="0"/>
                <a:ea typeface="Calibri" pitchFamily="34" charset="-122"/>
                <a:cs typeface="Calibri" pitchFamily="34" charset="-120"/>
              </a:rPr>
              <a:t>Tamim Hussein (2502572)</a:t>
            </a:r>
            <a:endParaRPr lang="en-US" sz="1300" dirty="0"/>
          </a:p>
        </p:txBody>
      </p:sp>
      <p:sp>
        <p:nvSpPr>
          <p:cNvPr id="11" name="Text 8"/>
          <p:cNvSpPr/>
          <p:nvPr/>
        </p:nvSpPr>
        <p:spPr>
          <a:xfrm>
            <a:off x="548640" y="4434840"/>
            <a:ext cx="3657600" cy="365760"/>
          </a:xfrm>
          <a:prstGeom prst="rect">
            <a:avLst/>
          </a:prstGeom>
          <a:noFill/>
          <a:ln/>
        </p:spPr>
        <p:txBody>
          <a:bodyPr wrap="square" rtlCol="0" anchor="ctr"/>
          <a:lstStyle/>
          <a:p>
            <a:pPr marL="0" indent="0">
              <a:buNone/>
            </a:pPr>
            <a:r>
              <a:rPr lang="en-US" sz="1200" i="1" dirty="0">
                <a:solidFill>
                  <a:srgbClr val="E9C46A"/>
                </a:solidFill>
                <a:latin typeface="Calibri" pitchFamily="34" charset="0"/>
                <a:ea typeface="Calibri" pitchFamily="34" charset="-122"/>
                <a:cs typeface="Calibri" pitchFamily="34" charset="-120"/>
              </a:rPr>
              <a:t>Section 3.5 — Deep Dive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Research Context</a:t>
            </a:r>
            <a:endParaRPr lang="en-US" sz="2200" dirty="0"/>
          </a:p>
        </p:txBody>
      </p:sp>
      <p:sp>
        <p:nvSpPr>
          <p:cNvPr id="4" name="Text 2"/>
          <p:cNvSpPr/>
          <p:nvPr/>
        </p:nvSpPr>
        <p:spPr>
          <a:xfrm>
            <a:off x="365760" y="658368"/>
            <a:ext cx="8412480" cy="292608"/>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Climate interventions projected for 2070 — What happens to pear size over time?</a:t>
            </a:r>
            <a:endParaRPr lang="en-US" sz="1100" dirty="0"/>
          </a:p>
        </p:txBody>
      </p:sp>
      <p:sp>
        <p:nvSpPr>
          <p:cNvPr id="5" name="Shape 3"/>
          <p:cNvSpPr/>
          <p:nvPr/>
        </p:nvSpPr>
        <p:spPr>
          <a:xfrm>
            <a:off x="457200" y="1005840"/>
            <a:ext cx="1920240" cy="1554480"/>
          </a:xfrm>
          <a:prstGeom prst="rect">
            <a:avLst/>
          </a:prstGeom>
          <a:solidFill>
            <a:srgbClr val="F4F6F8"/>
          </a:solidFill>
          <a:ln w="12700">
            <a:solidFill>
              <a:srgbClr val="F4F6F8"/>
            </a:solidFill>
            <a:prstDash val="solid"/>
          </a:ln>
        </p:spPr>
      </p:sp>
      <p:sp>
        <p:nvSpPr>
          <p:cNvPr id="6" name="Shape 4"/>
          <p:cNvSpPr/>
          <p:nvPr/>
        </p:nvSpPr>
        <p:spPr>
          <a:xfrm>
            <a:off x="457200" y="1005840"/>
            <a:ext cx="1920240" cy="228600"/>
          </a:xfrm>
          <a:prstGeom prst="rect">
            <a:avLst/>
          </a:prstGeom>
          <a:solidFill>
            <a:srgbClr val="7B2D8B"/>
          </a:solidFill>
          <a:ln w="12700">
            <a:solidFill>
              <a:srgbClr val="7B2D8B"/>
            </a:solidFill>
            <a:prstDash val="solid"/>
          </a:ln>
        </p:spPr>
      </p:sp>
      <p:sp>
        <p:nvSpPr>
          <p:cNvPr id="7" name="Text 5"/>
          <p:cNvSpPr/>
          <p:nvPr/>
        </p:nvSpPr>
        <p:spPr>
          <a:xfrm>
            <a:off x="457200" y="1005840"/>
            <a:ext cx="192024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Scenario 1</a:t>
            </a:r>
            <a:endParaRPr lang="en-US" sz="1000" dirty="0"/>
          </a:p>
        </p:txBody>
      </p:sp>
      <p:sp>
        <p:nvSpPr>
          <p:cNvPr id="8" name="Text 6"/>
          <p:cNvSpPr/>
          <p:nvPr/>
        </p:nvSpPr>
        <p:spPr>
          <a:xfrm>
            <a:off x="457200" y="1261872"/>
            <a:ext cx="1920240" cy="1005840"/>
          </a:xfrm>
          <a:prstGeom prst="rect">
            <a:avLst/>
          </a:prstGeom>
          <a:noFill/>
          <a:ln/>
        </p:spPr>
        <p:txBody>
          <a:bodyPr wrap="square" rtlCol="0" anchor="ctr"/>
          <a:lstStyle/>
          <a:p>
            <a:pPr marL="0" indent="0" algn="ctr">
              <a:buNone/>
            </a:pPr>
            <a:r>
              <a:rPr lang="en-US" sz="1300" dirty="0">
                <a:solidFill>
                  <a:srgbClr val="1B2A3B"/>
                </a:solidFill>
                <a:latin typeface="Calibri" pitchFamily="34" charset="0"/>
                <a:ea typeface="Calibri" pitchFamily="34" charset="-122"/>
                <a:cs typeface="Calibri" pitchFamily="34" charset="-120"/>
              </a:rPr>
              <a:t>No major</a:t>
            </a:r>
            <a:endParaRPr lang="en-US" sz="1300" dirty="0"/>
          </a:p>
          <a:p>
            <a:pPr marL="0" indent="0" algn="ctr">
              <a:buNone/>
            </a:pPr>
            <a:r>
              <a:rPr lang="en-US" sz="1300" dirty="0">
                <a:solidFill>
                  <a:srgbClr val="1B2A3B"/>
                </a:solidFill>
                <a:latin typeface="Calibri" pitchFamily="34" charset="0"/>
                <a:ea typeface="Calibri" pitchFamily="34" charset="-122"/>
                <a:cs typeface="Calibri" pitchFamily="34" charset="-120"/>
              </a:rPr>
              <a:t>intervention</a:t>
            </a:r>
            <a:endParaRPr lang="en-US" sz="1300" dirty="0"/>
          </a:p>
        </p:txBody>
      </p:sp>
      <p:sp>
        <p:nvSpPr>
          <p:cNvPr id="9" name="Shape 7"/>
          <p:cNvSpPr/>
          <p:nvPr/>
        </p:nvSpPr>
        <p:spPr>
          <a:xfrm>
            <a:off x="2578608" y="1005840"/>
            <a:ext cx="1920240" cy="1554480"/>
          </a:xfrm>
          <a:prstGeom prst="rect">
            <a:avLst/>
          </a:prstGeom>
          <a:solidFill>
            <a:srgbClr val="F4F6F8"/>
          </a:solidFill>
          <a:ln w="12700">
            <a:solidFill>
              <a:srgbClr val="F4F6F8"/>
            </a:solidFill>
            <a:prstDash val="solid"/>
          </a:ln>
        </p:spPr>
      </p:sp>
      <p:sp>
        <p:nvSpPr>
          <p:cNvPr id="10" name="Shape 8"/>
          <p:cNvSpPr/>
          <p:nvPr/>
        </p:nvSpPr>
        <p:spPr>
          <a:xfrm>
            <a:off x="2578608" y="1005840"/>
            <a:ext cx="1920240" cy="228600"/>
          </a:xfrm>
          <a:prstGeom prst="rect">
            <a:avLst/>
          </a:prstGeom>
          <a:solidFill>
            <a:srgbClr val="2D9E6B"/>
          </a:solidFill>
          <a:ln w="12700">
            <a:solidFill>
              <a:srgbClr val="2D9E6B"/>
            </a:solidFill>
            <a:prstDash val="solid"/>
          </a:ln>
        </p:spPr>
      </p:sp>
      <p:sp>
        <p:nvSpPr>
          <p:cNvPr id="11" name="Text 9"/>
          <p:cNvSpPr/>
          <p:nvPr/>
        </p:nvSpPr>
        <p:spPr>
          <a:xfrm>
            <a:off x="2578608" y="1005840"/>
            <a:ext cx="192024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Scenario 2</a:t>
            </a:r>
            <a:endParaRPr lang="en-US" sz="1000" dirty="0"/>
          </a:p>
        </p:txBody>
      </p:sp>
      <p:sp>
        <p:nvSpPr>
          <p:cNvPr id="12" name="Text 10"/>
          <p:cNvSpPr/>
          <p:nvPr/>
        </p:nvSpPr>
        <p:spPr>
          <a:xfrm>
            <a:off x="2578608" y="1261872"/>
            <a:ext cx="1920240" cy="1005840"/>
          </a:xfrm>
          <a:prstGeom prst="rect">
            <a:avLst/>
          </a:prstGeom>
          <a:noFill/>
          <a:ln/>
        </p:spPr>
        <p:txBody>
          <a:bodyPr wrap="square" rtlCol="0" anchor="ctr"/>
          <a:lstStyle/>
          <a:p>
            <a:pPr marL="0" indent="0" algn="ctr">
              <a:buNone/>
            </a:pPr>
            <a:r>
              <a:rPr lang="en-US" sz="1300" dirty="0">
                <a:solidFill>
                  <a:srgbClr val="1B2A3B"/>
                </a:solidFill>
                <a:latin typeface="Calibri" pitchFamily="34" charset="0"/>
                <a:ea typeface="Calibri" pitchFamily="34" charset="-122"/>
                <a:cs typeface="Calibri" pitchFamily="34" charset="-120"/>
              </a:rPr>
              <a:t>Active CO₂</a:t>
            </a:r>
            <a:endParaRPr lang="en-US" sz="1300" dirty="0"/>
          </a:p>
          <a:p>
            <a:pPr marL="0" indent="0" algn="ctr">
              <a:buNone/>
            </a:pPr>
            <a:r>
              <a:rPr lang="en-US" sz="1300" dirty="0">
                <a:solidFill>
                  <a:srgbClr val="1B2A3B"/>
                </a:solidFill>
                <a:latin typeface="Calibri" pitchFamily="34" charset="0"/>
                <a:ea typeface="Calibri" pitchFamily="34" charset="-122"/>
                <a:cs typeface="Calibri" pitchFamily="34" charset="-120"/>
              </a:rPr>
              <a:t>removal</a:t>
            </a:r>
            <a:endParaRPr lang="en-US" sz="1300" dirty="0"/>
          </a:p>
        </p:txBody>
      </p:sp>
      <p:sp>
        <p:nvSpPr>
          <p:cNvPr id="13" name="Shape 11"/>
          <p:cNvSpPr/>
          <p:nvPr/>
        </p:nvSpPr>
        <p:spPr>
          <a:xfrm>
            <a:off x="4700016" y="1005840"/>
            <a:ext cx="1920240" cy="1554480"/>
          </a:xfrm>
          <a:prstGeom prst="rect">
            <a:avLst/>
          </a:prstGeom>
          <a:solidFill>
            <a:srgbClr val="F4F6F8"/>
          </a:solidFill>
          <a:ln w="12700">
            <a:solidFill>
              <a:srgbClr val="F4F6F8"/>
            </a:solidFill>
            <a:prstDash val="solid"/>
          </a:ln>
        </p:spPr>
      </p:sp>
      <p:sp>
        <p:nvSpPr>
          <p:cNvPr id="14" name="Shape 12"/>
          <p:cNvSpPr/>
          <p:nvPr/>
        </p:nvSpPr>
        <p:spPr>
          <a:xfrm>
            <a:off x="4700016" y="1005840"/>
            <a:ext cx="1920240" cy="228600"/>
          </a:xfrm>
          <a:prstGeom prst="rect">
            <a:avLst/>
          </a:prstGeom>
          <a:solidFill>
            <a:srgbClr val="E07020"/>
          </a:solidFill>
          <a:ln w="12700">
            <a:solidFill>
              <a:srgbClr val="E07020"/>
            </a:solidFill>
            <a:prstDash val="solid"/>
          </a:ln>
        </p:spPr>
      </p:sp>
      <p:sp>
        <p:nvSpPr>
          <p:cNvPr id="15" name="Text 13"/>
          <p:cNvSpPr/>
          <p:nvPr/>
        </p:nvSpPr>
        <p:spPr>
          <a:xfrm>
            <a:off x="4700016" y="1005840"/>
            <a:ext cx="192024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Scenario 3</a:t>
            </a:r>
            <a:endParaRPr lang="en-US" sz="1000" dirty="0"/>
          </a:p>
        </p:txBody>
      </p:sp>
      <p:sp>
        <p:nvSpPr>
          <p:cNvPr id="16" name="Text 14"/>
          <p:cNvSpPr/>
          <p:nvPr/>
        </p:nvSpPr>
        <p:spPr>
          <a:xfrm>
            <a:off x="4700016" y="1261872"/>
            <a:ext cx="1920240" cy="1005840"/>
          </a:xfrm>
          <a:prstGeom prst="rect">
            <a:avLst/>
          </a:prstGeom>
          <a:noFill/>
          <a:ln/>
        </p:spPr>
        <p:txBody>
          <a:bodyPr wrap="square" rtlCol="0" anchor="ctr"/>
          <a:lstStyle/>
          <a:p>
            <a:pPr marL="0" indent="0" algn="ctr">
              <a:buNone/>
            </a:pPr>
            <a:r>
              <a:rPr lang="en-US" sz="1300" dirty="0">
                <a:solidFill>
                  <a:srgbClr val="1B2A3B"/>
                </a:solidFill>
                <a:latin typeface="Calibri" pitchFamily="34" charset="0"/>
                <a:ea typeface="Calibri" pitchFamily="34" charset="-122"/>
                <a:cs typeface="Calibri" pitchFamily="34" charset="-120"/>
              </a:rPr>
              <a:t>Sustainable</a:t>
            </a:r>
            <a:endParaRPr lang="en-US" sz="1300" dirty="0"/>
          </a:p>
          <a:p>
            <a:pPr marL="0" indent="0" algn="ctr">
              <a:buNone/>
            </a:pPr>
            <a:r>
              <a:rPr lang="en-US" sz="1300" dirty="0">
                <a:solidFill>
                  <a:srgbClr val="1B2A3B"/>
                </a:solidFill>
                <a:latin typeface="Calibri" pitchFamily="34" charset="0"/>
                <a:ea typeface="Calibri" pitchFamily="34" charset="-122"/>
                <a:cs typeface="Calibri" pitchFamily="34" charset="-120"/>
              </a:rPr>
              <a:t>energy transition</a:t>
            </a:r>
            <a:endParaRPr lang="en-US" sz="1300" dirty="0"/>
          </a:p>
        </p:txBody>
      </p:sp>
      <p:sp>
        <p:nvSpPr>
          <p:cNvPr id="17" name="Shape 15"/>
          <p:cNvSpPr/>
          <p:nvPr/>
        </p:nvSpPr>
        <p:spPr>
          <a:xfrm>
            <a:off x="6821424" y="1005840"/>
            <a:ext cx="1920240" cy="1554480"/>
          </a:xfrm>
          <a:prstGeom prst="rect">
            <a:avLst/>
          </a:prstGeom>
          <a:solidFill>
            <a:srgbClr val="F4F6F8"/>
          </a:solidFill>
          <a:ln w="12700">
            <a:solidFill>
              <a:srgbClr val="F4F6F8"/>
            </a:solidFill>
            <a:prstDash val="solid"/>
          </a:ln>
        </p:spPr>
      </p:sp>
      <p:sp>
        <p:nvSpPr>
          <p:cNvPr id="18" name="Shape 16"/>
          <p:cNvSpPr/>
          <p:nvPr/>
        </p:nvSpPr>
        <p:spPr>
          <a:xfrm>
            <a:off x="6821424" y="1005840"/>
            <a:ext cx="1920240" cy="228600"/>
          </a:xfrm>
          <a:prstGeom prst="rect">
            <a:avLst/>
          </a:prstGeom>
          <a:solidFill>
            <a:srgbClr val="1A72B8"/>
          </a:solidFill>
          <a:ln w="12700">
            <a:solidFill>
              <a:srgbClr val="1A72B8"/>
            </a:solidFill>
            <a:prstDash val="solid"/>
          </a:ln>
        </p:spPr>
      </p:sp>
      <p:sp>
        <p:nvSpPr>
          <p:cNvPr id="19" name="Text 17"/>
          <p:cNvSpPr/>
          <p:nvPr/>
        </p:nvSpPr>
        <p:spPr>
          <a:xfrm>
            <a:off x="6821424" y="1005840"/>
            <a:ext cx="192024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Scenario 4</a:t>
            </a:r>
            <a:endParaRPr lang="en-US" sz="1000" dirty="0"/>
          </a:p>
        </p:txBody>
      </p:sp>
      <p:sp>
        <p:nvSpPr>
          <p:cNvPr id="20" name="Text 18"/>
          <p:cNvSpPr/>
          <p:nvPr/>
        </p:nvSpPr>
        <p:spPr>
          <a:xfrm>
            <a:off x="6821424" y="1261872"/>
            <a:ext cx="1920240" cy="1005840"/>
          </a:xfrm>
          <a:prstGeom prst="rect">
            <a:avLst/>
          </a:prstGeom>
          <a:noFill/>
          <a:ln/>
        </p:spPr>
        <p:txBody>
          <a:bodyPr wrap="square" rtlCol="0" anchor="ctr"/>
          <a:lstStyle/>
          <a:p>
            <a:pPr marL="0" indent="0" algn="ctr">
              <a:buNone/>
            </a:pPr>
            <a:r>
              <a:rPr lang="en-US" sz="1300" dirty="0">
                <a:solidFill>
                  <a:srgbClr val="1B2A3B"/>
                </a:solidFill>
                <a:latin typeface="Calibri" pitchFamily="34" charset="0"/>
                <a:ea typeface="Calibri" pitchFamily="34" charset="-122"/>
                <a:cs typeface="Calibri" pitchFamily="34" charset="-120"/>
              </a:rPr>
              <a:t>Transport-focused</a:t>
            </a:r>
            <a:endParaRPr lang="en-US" sz="1300" dirty="0"/>
          </a:p>
          <a:p>
            <a:pPr marL="0" indent="0" algn="ctr">
              <a:buNone/>
            </a:pPr>
            <a:r>
              <a:rPr lang="en-US" sz="1300" dirty="0">
                <a:solidFill>
                  <a:srgbClr val="1B2A3B"/>
                </a:solidFill>
                <a:latin typeface="Calibri" pitchFamily="34" charset="0"/>
                <a:ea typeface="Calibri" pitchFamily="34" charset="-122"/>
                <a:cs typeface="Calibri" pitchFamily="34" charset="-120"/>
              </a:rPr>
              <a:t>interventions</a:t>
            </a:r>
            <a:endParaRPr lang="en-US" sz="1300" dirty="0"/>
          </a:p>
        </p:txBody>
      </p:sp>
      <p:sp>
        <p:nvSpPr>
          <p:cNvPr id="21" name="Shape 19"/>
          <p:cNvSpPr/>
          <p:nvPr/>
        </p:nvSpPr>
        <p:spPr>
          <a:xfrm>
            <a:off x="457200" y="2834640"/>
            <a:ext cx="8229600" cy="914400"/>
          </a:xfrm>
          <a:prstGeom prst="rect">
            <a:avLst/>
          </a:prstGeom>
          <a:solidFill>
            <a:srgbClr val="D8F3DC"/>
          </a:solidFill>
          <a:ln w="12700">
            <a:solidFill>
              <a:srgbClr val="52B788"/>
            </a:solidFill>
            <a:prstDash val="solid"/>
          </a:ln>
        </p:spPr>
      </p:sp>
      <p:sp>
        <p:nvSpPr>
          <p:cNvPr id="22" name="Shape 20"/>
          <p:cNvSpPr/>
          <p:nvPr/>
        </p:nvSpPr>
        <p:spPr>
          <a:xfrm>
            <a:off x="457200" y="2834640"/>
            <a:ext cx="91440" cy="914400"/>
          </a:xfrm>
          <a:prstGeom prst="rect">
            <a:avLst/>
          </a:prstGeom>
          <a:solidFill>
            <a:srgbClr val="1B4332"/>
          </a:solidFill>
          <a:ln w="12700">
            <a:solidFill>
              <a:srgbClr val="1B4332"/>
            </a:solidFill>
            <a:prstDash val="solid"/>
          </a:ln>
        </p:spPr>
      </p:sp>
      <p:sp>
        <p:nvSpPr>
          <p:cNvPr id="23" name="Text 21"/>
          <p:cNvSpPr/>
          <p:nvPr/>
        </p:nvSpPr>
        <p:spPr>
          <a:xfrm>
            <a:off x="658368" y="2889504"/>
            <a:ext cx="786384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Primary Research Question</a:t>
            </a:r>
            <a:endParaRPr lang="en-US" sz="1100" dirty="0"/>
          </a:p>
        </p:txBody>
      </p:sp>
      <p:sp>
        <p:nvSpPr>
          <p:cNvPr id="24" name="Text 22"/>
          <p:cNvSpPr/>
          <p:nvPr/>
        </p:nvSpPr>
        <p:spPr>
          <a:xfrm>
            <a:off x="658368" y="3182112"/>
            <a:ext cx="7863840" cy="502920"/>
          </a:xfrm>
          <a:prstGeom prst="rect">
            <a:avLst/>
          </a:prstGeom>
          <a:noFill/>
          <a:ln/>
        </p:spPr>
        <p:txBody>
          <a:bodyPr wrap="square" lIns="0" tIns="0" rIns="0" bIns="0" rtlCol="0" anchor="ctr"/>
          <a:lstStyle/>
          <a:p>
            <a:pPr marL="0" indent="0">
              <a:buNone/>
            </a:pPr>
            <a:r>
              <a:rPr lang="en-US" sz="1300" i="1" dirty="0">
                <a:solidFill>
                  <a:srgbClr val="1B2A3B"/>
                </a:solidFill>
                <a:latin typeface="Calibri" pitchFamily="34" charset="0"/>
                <a:ea typeface="Calibri" pitchFamily="34" charset="-122"/>
                <a:cs typeface="Calibri" pitchFamily="34" charset="-120"/>
              </a:rPr>
              <a:t>What is the effect of climate conditions on pear size over time?</a:t>
            </a:r>
            <a:endParaRPr lang="en-US" sz="1300" dirty="0"/>
          </a:p>
        </p:txBody>
      </p:sp>
      <p:sp>
        <p:nvSpPr>
          <p:cNvPr id="25" name="Shape 23"/>
          <p:cNvSpPr/>
          <p:nvPr/>
        </p:nvSpPr>
        <p:spPr>
          <a:xfrm>
            <a:off x="457200" y="3886200"/>
            <a:ext cx="8229600" cy="914400"/>
          </a:xfrm>
          <a:prstGeom prst="rect">
            <a:avLst/>
          </a:prstGeom>
          <a:solidFill>
            <a:srgbClr val="D8F3DC"/>
          </a:solidFill>
          <a:ln w="12700">
            <a:solidFill>
              <a:srgbClr val="52B788"/>
            </a:solidFill>
            <a:prstDash val="solid"/>
          </a:ln>
        </p:spPr>
      </p:sp>
      <p:sp>
        <p:nvSpPr>
          <p:cNvPr id="26" name="Shape 24"/>
          <p:cNvSpPr/>
          <p:nvPr/>
        </p:nvSpPr>
        <p:spPr>
          <a:xfrm>
            <a:off x="457200" y="3886200"/>
            <a:ext cx="91440" cy="914400"/>
          </a:xfrm>
          <a:prstGeom prst="rect">
            <a:avLst/>
          </a:prstGeom>
          <a:solidFill>
            <a:srgbClr val="2D6A4F"/>
          </a:solidFill>
          <a:ln w="12700">
            <a:solidFill>
              <a:srgbClr val="2D6A4F"/>
            </a:solidFill>
            <a:prstDash val="solid"/>
          </a:ln>
        </p:spPr>
      </p:sp>
      <p:sp>
        <p:nvSpPr>
          <p:cNvPr id="27" name="Text 25"/>
          <p:cNvSpPr/>
          <p:nvPr/>
        </p:nvSpPr>
        <p:spPr>
          <a:xfrm>
            <a:off x="658368" y="3941064"/>
            <a:ext cx="7863840" cy="274320"/>
          </a:xfrm>
          <a:prstGeom prst="rect">
            <a:avLst/>
          </a:prstGeom>
          <a:noFill/>
          <a:ln/>
        </p:spPr>
        <p:txBody>
          <a:bodyPr wrap="square" lIns="0" tIns="0" rIns="0" bIns="0" rtlCol="0" anchor="ctr"/>
          <a:lstStyle/>
          <a:p>
            <a:pPr marL="0" indent="0">
              <a:buNone/>
            </a:pPr>
            <a:r>
              <a:rPr lang="en-US" sz="1100" b="1" dirty="0">
                <a:solidFill>
                  <a:srgbClr val="2D6A4F"/>
                </a:solidFill>
                <a:latin typeface="Calibri" pitchFamily="34" charset="0"/>
                <a:ea typeface="Calibri" pitchFamily="34" charset="-122"/>
                <a:cs typeface="Calibri" pitchFamily="34" charset="-120"/>
              </a:rPr>
              <a:t>Secondary Research Question</a:t>
            </a:r>
            <a:endParaRPr lang="en-US" sz="1100" dirty="0"/>
          </a:p>
        </p:txBody>
      </p:sp>
      <p:sp>
        <p:nvSpPr>
          <p:cNvPr id="28" name="Text 26"/>
          <p:cNvSpPr/>
          <p:nvPr/>
        </p:nvSpPr>
        <p:spPr>
          <a:xfrm>
            <a:off x="658368" y="4233672"/>
            <a:ext cx="7863840" cy="502920"/>
          </a:xfrm>
          <a:prstGeom prst="rect">
            <a:avLst/>
          </a:prstGeom>
          <a:noFill/>
          <a:ln/>
        </p:spPr>
        <p:txBody>
          <a:bodyPr wrap="square" lIns="0" tIns="0" rIns="0" bIns="0" rtlCol="0" anchor="ctr"/>
          <a:lstStyle/>
          <a:p>
            <a:pPr marL="0" indent="0">
              <a:buNone/>
            </a:pPr>
            <a:r>
              <a:rPr lang="en-US" sz="1300" i="1" dirty="0">
                <a:solidFill>
                  <a:srgbClr val="1B2A3B"/>
                </a:solidFill>
                <a:latin typeface="Calibri" pitchFamily="34" charset="0"/>
                <a:ea typeface="Calibri" pitchFamily="34" charset="-122"/>
                <a:cs typeface="Calibri" pitchFamily="34" charset="-120"/>
              </a:rPr>
              <a:t>How do species (variety) growth rates change over time?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Study Design</a:t>
            </a:r>
            <a:endParaRPr lang="en-US" sz="2200" dirty="0"/>
          </a:p>
        </p:txBody>
      </p:sp>
      <p:sp>
        <p:nvSpPr>
          <p:cNvPr id="4" name="Text 2"/>
          <p:cNvSpPr/>
          <p:nvPr/>
        </p:nvSpPr>
        <p:spPr>
          <a:xfrm>
            <a:off x="365760" y="658368"/>
            <a:ext cx="8412480" cy="292608"/>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Repeated measurements nested within a three-level hierarchy</a:t>
            </a:r>
            <a:endParaRPr lang="en-US" sz="1100" dirty="0"/>
          </a:p>
        </p:txBody>
      </p:sp>
      <p:sp>
        <p:nvSpPr>
          <p:cNvPr id="5" name="Shape 3"/>
          <p:cNvSpPr/>
          <p:nvPr/>
        </p:nvSpPr>
        <p:spPr>
          <a:xfrm>
            <a:off x="365760" y="1005840"/>
            <a:ext cx="3474720" cy="685800"/>
          </a:xfrm>
          <a:prstGeom prst="rect">
            <a:avLst/>
          </a:prstGeom>
          <a:solidFill>
            <a:srgbClr val="1B4332"/>
          </a:solidFill>
          <a:ln w="12700">
            <a:solidFill>
              <a:srgbClr val="1B4332"/>
            </a:solidFill>
            <a:prstDash val="solid"/>
          </a:ln>
        </p:spPr>
      </p:sp>
      <p:sp>
        <p:nvSpPr>
          <p:cNvPr id="6" name="Text 4"/>
          <p:cNvSpPr/>
          <p:nvPr/>
        </p:nvSpPr>
        <p:spPr>
          <a:xfrm>
            <a:off x="438912" y="1042416"/>
            <a:ext cx="3328416"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Ecotron (4 ecotrons shown)</a:t>
            </a:r>
            <a:endParaRPr lang="en-US" sz="1200" dirty="0"/>
          </a:p>
        </p:txBody>
      </p:sp>
      <p:sp>
        <p:nvSpPr>
          <p:cNvPr id="7" name="Text 5"/>
          <p:cNvSpPr/>
          <p:nvPr/>
        </p:nvSpPr>
        <p:spPr>
          <a:xfrm>
            <a:off x="438912" y="1380744"/>
            <a:ext cx="3328416"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1 scenario per ecotron, Belgium only</a:t>
            </a:r>
            <a:endParaRPr lang="en-US" sz="1000" dirty="0"/>
          </a:p>
        </p:txBody>
      </p:sp>
      <p:sp>
        <p:nvSpPr>
          <p:cNvPr id="8" name="Shape 6"/>
          <p:cNvSpPr/>
          <p:nvPr/>
        </p:nvSpPr>
        <p:spPr>
          <a:xfrm>
            <a:off x="2089404" y="1691640"/>
            <a:ext cx="27432" cy="338328"/>
          </a:xfrm>
          <a:prstGeom prst="rect">
            <a:avLst/>
          </a:prstGeom>
          <a:solidFill>
            <a:srgbClr val="64748B"/>
          </a:solidFill>
          <a:ln w="12700">
            <a:solidFill>
              <a:srgbClr val="64748B"/>
            </a:solidFill>
            <a:prstDash val="solid"/>
          </a:ln>
        </p:spPr>
      </p:sp>
      <p:sp>
        <p:nvSpPr>
          <p:cNvPr id="9" name="Shape 7"/>
          <p:cNvSpPr/>
          <p:nvPr/>
        </p:nvSpPr>
        <p:spPr>
          <a:xfrm>
            <a:off x="685800" y="1965960"/>
            <a:ext cx="3200400" cy="685800"/>
          </a:xfrm>
          <a:prstGeom prst="rect">
            <a:avLst/>
          </a:prstGeom>
          <a:solidFill>
            <a:srgbClr val="2D6A4F"/>
          </a:solidFill>
          <a:ln w="12700">
            <a:solidFill>
              <a:srgbClr val="2D6A4F"/>
            </a:solidFill>
            <a:prstDash val="solid"/>
          </a:ln>
        </p:spPr>
      </p:sp>
      <p:sp>
        <p:nvSpPr>
          <p:cNvPr id="10" name="Text 8"/>
          <p:cNvSpPr/>
          <p:nvPr/>
        </p:nvSpPr>
        <p:spPr>
          <a:xfrm>
            <a:off x="758952" y="2002536"/>
            <a:ext cx="3054096"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Tree (2 trees per ecotron)</a:t>
            </a:r>
            <a:endParaRPr lang="en-US" sz="1200" dirty="0"/>
          </a:p>
        </p:txBody>
      </p:sp>
      <p:sp>
        <p:nvSpPr>
          <p:cNvPr id="11" name="Text 9"/>
          <p:cNvSpPr/>
          <p:nvPr/>
        </p:nvSpPr>
        <p:spPr>
          <a:xfrm>
            <a:off x="758952" y="2340864"/>
            <a:ext cx="3054096"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tree_id unique across ecotrons</a:t>
            </a:r>
            <a:endParaRPr lang="en-US" sz="1000" dirty="0"/>
          </a:p>
        </p:txBody>
      </p:sp>
      <p:sp>
        <p:nvSpPr>
          <p:cNvPr id="12" name="Shape 10"/>
          <p:cNvSpPr/>
          <p:nvPr/>
        </p:nvSpPr>
        <p:spPr>
          <a:xfrm>
            <a:off x="2272284" y="2651760"/>
            <a:ext cx="27432" cy="338328"/>
          </a:xfrm>
          <a:prstGeom prst="rect">
            <a:avLst/>
          </a:prstGeom>
          <a:solidFill>
            <a:srgbClr val="64748B"/>
          </a:solidFill>
          <a:ln w="12700">
            <a:solidFill>
              <a:srgbClr val="64748B"/>
            </a:solidFill>
            <a:prstDash val="solid"/>
          </a:ln>
        </p:spPr>
      </p:sp>
      <p:sp>
        <p:nvSpPr>
          <p:cNvPr id="13" name="Shape 11"/>
          <p:cNvSpPr/>
          <p:nvPr/>
        </p:nvSpPr>
        <p:spPr>
          <a:xfrm>
            <a:off x="1005840" y="2926080"/>
            <a:ext cx="2926080" cy="685800"/>
          </a:xfrm>
          <a:prstGeom prst="rect">
            <a:avLst/>
          </a:prstGeom>
          <a:solidFill>
            <a:srgbClr val="52B788"/>
          </a:solidFill>
          <a:ln w="12700">
            <a:solidFill>
              <a:srgbClr val="52B788"/>
            </a:solidFill>
            <a:prstDash val="solid"/>
          </a:ln>
        </p:spPr>
      </p:sp>
      <p:sp>
        <p:nvSpPr>
          <p:cNvPr id="14" name="Text 12"/>
          <p:cNvSpPr/>
          <p:nvPr/>
        </p:nvSpPr>
        <p:spPr>
          <a:xfrm>
            <a:off x="1078992" y="2962656"/>
            <a:ext cx="2779776"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Pear (individual fruit)</a:t>
            </a:r>
            <a:endParaRPr lang="en-US" sz="1200" dirty="0"/>
          </a:p>
        </p:txBody>
      </p:sp>
      <p:sp>
        <p:nvSpPr>
          <p:cNvPr id="15" name="Text 13"/>
          <p:cNvSpPr/>
          <p:nvPr/>
        </p:nvSpPr>
        <p:spPr>
          <a:xfrm>
            <a:off x="1078992" y="3300984"/>
            <a:ext cx="2779776"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Repeated measurements: weeks 5–24</a:t>
            </a:r>
            <a:endParaRPr lang="en-US" sz="1000" dirty="0"/>
          </a:p>
        </p:txBody>
      </p:sp>
      <p:sp>
        <p:nvSpPr>
          <p:cNvPr id="16" name="Shape 14"/>
          <p:cNvSpPr/>
          <p:nvPr/>
        </p:nvSpPr>
        <p:spPr>
          <a:xfrm>
            <a:off x="2455164" y="3611880"/>
            <a:ext cx="27432" cy="338328"/>
          </a:xfrm>
          <a:prstGeom prst="rect">
            <a:avLst/>
          </a:prstGeom>
          <a:solidFill>
            <a:srgbClr val="64748B"/>
          </a:solidFill>
          <a:ln w="12700">
            <a:solidFill>
              <a:srgbClr val="64748B"/>
            </a:solidFill>
            <a:prstDash val="solid"/>
          </a:ln>
        </p:spPr>
      </p:sp>
      <p:sp>
        <p:nvSpPr>
          <p:cNvPr id="17" name="Shape 15"/>
          <p:cNvSpPr/>
          <p:nvPr/>
        </p:nvSpPr>
        <p:spPr>
          <a:xfrm>
            <a:off x="1325880" y="3886200"/>
            <a:ext cx="2743200" cy="685800"/>
          </a:xfrm>
          <a:prstGeom prst="rect">
            <a:avLst/>
          </a:prstGeom>
          <a:solidFill>
            <a:srgbClr val="E9C46A"/>
          </a:solidFill>
          <a:ln w="12700">
            <a:solidFill>
              <a:srgbClr val="E9C46A"/>
            </a:solidFill>
            <a:prstDash val="solid"/>
          </a:ln>
        </p:spPr>
      </p:sp>
      <p:sp>
        <p:nvSpPr>
          <p:cNvPr id="18" name="Text 16"/>
          <p:cNvSpPr/>
          <p:nvPr/>
        </p:nvSpPr>
        <p:spPr>
          <a:xfrm>
            <a:off x="1399032" y="3922776"/>
            <a:ext cx="2596896"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Observation (weekly size)</a:t>
            </a:r>
            <a:endParaRPr lang="en-US" sz="1200" dirty="0"/>
          </a:p>
        </p:txBody>
      </p:sp>
      <p:sp>
        <p:nvSpPr>
          <p:cNvPr id="19" name="Text 17"/>
          <p:cNvSpPr/>
          <p:nvPr/>
        </p:nvSpPr>
        <p:spPr>
          <a:xfrm>
            <a:off x="1399032" y="4261104"/>
            <a:ext cx="2596896"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~16–27 obs per tree</a:t>
            </a:r>
            <a:endParaRPr lang="en-US" sz="1000" dirty="0"/>
          </a:p>
        </p:txBody>
      </p:sp>
      <p:sp>
        <p:nvSpPr>
          <p:cNvPr id="20" name="Text 18"/>
          <p:cNvSpPr/>
          <p:nvPr/>
        </p:nvSpPr>
        <p:spPr>
          <a:xfrm>
            <a:off x="4572000" y="960120"/>
            <a:ext cx="4297680" cy="320040"/>
          </a:xfrm>
          <a:prstGeom prst="rect">
            <a:avLst/>
          </a:prstGeom>
          <a:noFill/>
          <a:ln/>
        </p:spPr>
        <p:txBody>
          <a:bodyPr wrap="square" lIns="0" tIns="0" rIns="0" bIns="0"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Observed Data Structure (sample)</a:t>
            </a:r>
            <a:endParaRPr lang="en-US" sz="1300" dirty="0"/>
          </a:p>
        </p:txBody>
      </p:sp>
      <p:sp>
        <p:nvSpPr>
          <p:cNvPr id="21" name="Text 19"/>
          <p:cNvSpPr/>
          <p:nvPr/>
        </p:nvSpPr>
        <p:spPr>
          <a:xfrm>
            <a:off x="4572000" y="1298448"/>
            <a:ext cx="429768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table(ecotr_id, tree_id):</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0" y="1572768"/>
          <a:ext cx="4233672" cy="1499616"/>
        </p:xfrm>
        <a:graphic>
          <a:graphicData uri="http://schemas.openxmlformats.org/drawingml/2006/table">
            <a:tbl>
              <a:tblPr/>
              <a:tblGrid>
                <a:gridCol w="502920">
                  <a:extLst>
                    <a:ext uri="{9D8B030D-6E8A-4147-A177-3AD203B41FA5}">
                      <a16:colId xmlns:a16="http://schemas.microsoft.com/office/drawing/2014/main" val="20000"/>
                    </a:ext>
                  </a:extLst>
                </a:gridCol>
                <a:gridCol w="466344">
                  <a:extLst>
                    <a:ext uri="{9D8B030D-6E8A-4147-A177-3AD203B41FA5}">
                      <a16:colId xmlns:a16="http://schemas.microsoft.com/office/drawing/2014/main" val="20001"/>
                    </a:ext>
                  </a:extLst>
                </a:gridCol>
                <a:gridCol w="466344">
                  <a:extLst>
                    <a:ext uri="{9D8B030D-6E8A-4147-A177-3AD203B41FA5}">
                      <a16:colId xmlns:a16="http://schemas.microsoft.com/office/drawing/2014/main" val="20002"/>
                    </a:ext>
                  </a:extLst>
                </a:gridCol>
                <a:gridCol w="466344">
                  <a:extLst>
                    <a:ext uri="{9D8B030D-6E8A-4147-A177-3AD203B41FA5}">
                      <a16:colId xmlns:a16="http://schemas.microsoft.com/office/drawing/2014/main" val="20003"/>
                    </a:ext>
                  </a:extLst>
                </a:gridCol>
                <a:gridCol w="466344">
                  <a:extLst>
                    <a:ext uri="{9D8B030D-6E8A-4147-A177-3AD203B41FA5}">
                      <a16:colId xmlns:a16="http://schemas.microsoft.com/office/drawing/2014/main" val="20004"/>
                    </a:ext>
                  </a:extLst>
                </a:gridCol>
                <a:gridCol w="466344">
                  <a:extLst>
                    <a:ext uri="{9D8B030D-6E8A-4147-A177-3AD203B41FA5}">
                      <a16:colId xmlns:a16="http://schemas.microsoft.com/office/drawing/2014/main" val="20005"/>
                    </a:ext>
                  </a:extLst>
                </a:gridCol>
                <a:gridCol w="466344">
                  <a:extLst>
                    <a:ext uri="{9D8B030D-6E8A-4147-A177-3AD203B41FA5}">
                      <a16:colId xmlns:a16="http://schemas.microsoft.com/office/drawing/2014/main" val="20006"/>
                    </a:ext>
                  </a:extLst>
                </a:gridCol>
                <a:gridCol w="466344">
                  <a:extLst>
                    <a:ext uri="{9D8B030D-6E8A-4147-A177-3AD203B41FA5}">
                      <a16:colId xmlns:a16="http://schemas.microsoft.com/office/drawing/2014/main" val="20007"/>
                    </a:ext>
                  </a:extLst>
                </a:gridCol>
                <a:gridCol w="466344">
                  <a:extLst>
                    <a:ext uri="{9D8B030D-6E8A-4147-A177-3AD203B41FA5}">
                      <a16:colId xmlns:a16="http://schemas.microsoft.com/office/drawing/2014/main" val="20008"/>
                    </a:ext>
                  </a:extLst>
                </a:gridCol>
              </a:tblGrid>
              <a:tr h="283464">
                <a:tc>
                  <a:txBody>
                    <a:bodyPr/>
                    <a:lstStyle/>
                    <a:p>
                      <a:pPr marL="0" indent="0">
                        <a:buNone/>
                      </a:pPr>
                      <a:r>
                        <a:rPr lang="en-US" sz="900" b="1" dirty="0">
                          <a:solidFill>
                            <a:srgbClr val="FFFFFF"/>
                          </a:solidFill>
                        </a:rPr>
                        <a:t>ecotr_id</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tree 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tree 2</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tree 3</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tree 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tree 5</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tree 6</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tree 7</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tree 8</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283464">
                <a:tc>
                  <a:txBody>
                    <a:bodyPr/>
                    <a:lstStyle/>
                    <a:p>
                      <a:pPr marL="0" indent="0">
                        <a:buNone/>
                      </a:pPr>
                      <a:r>
                        <a:rPr lang="en-US" sz="900" b="1" dirty="0">
                          <a:solidFill>
                            <a:srgbClr val="000000"/>
                          </a:solidFill>
                        </a:rPr>
                        <a:t>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22</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dirty="0">
                          <a:solidFill>
                            <a:srgbClr val="000000"/>
                          </a:solidFill>
                        </a:rPr>
                        <a:t>19</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464">
                <a:tc>
                  <a:txBody>
                    <a:bodyPr/>
                    <a:lstStyle/>
                    <a:p>
                      <a:pPr marL="0" indent="0">
                        <a:buNone/>
                      </a:pPr>
                      <a:r>
                        <a:rPr lang="en-US" sz="900" b="1" dirty="0">
                          <a:solidFill>
                            <a:srgbClr val="000000"/>
                          </a:solidFill>
                        </a:rPr>
                        <a:t>2</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16</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dirty="0">
                          <a:solidFill>
                            <a:srgbClr val="000000"/>
                          </a:solidFill>
                        </a:rPr>
                        <a:t>19</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3464">
                <a:tc>
                  <a:txBody>
                    <a:bodyPr/>
                    <a:lstStyle/>
                    <a:p>
                      <a:pPr marL="0" indent="0">
                        <a:buNone/>
                      </a:pPr>
                      <a:r>
                        <a:rPr lang="en-US" sz="900" b="1" dirty="0">
                          <a:solidFill>
                            <a:srgbClr val="000000"/>
                          </a:solidFill>
                        </a:rPr>
                        <a:t>3</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27</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dirty="0">
                          <a:solidFill>
                            <a:srgbClr val="000000"/>
                          </a:solidFill>
                        </a:rPr>
                        <a:t>20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buNone/>
                      </a:pPr>
                      <a:r>
                        <a:rPr lang="en-US" sz="900" b="1" dirty="0">
                          <a:solidFill>
                            <a:srgbClr val="000000"/>
                          </a:solidFill>
                        </a:rPr>
                        <a:t>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27</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dirty="0">
                          <a:solidFill>
                            <a:srgbClr val="000000"/>
                          </a:solidFill>
                        </a:rPr>
                        <a:t>22</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extLst>
                  <a:ext uri="{0D108BD9-81ED-4DB2-BD59-A6C34878D82A}">
                    <a16:rowId xmlns:a16="http://schemas.microsoft.com/office/drawing/2014/main" val="10004"/>
                  </a:ext>
                </a:extLst>
              </a:tr>
            </a:tbl>
          </a:graphicData>
        </a:graphic>
      </p:graphicFrame>
      <p:sp>
        <p:nvSpPr>
          <p:cNvPr id="23" name="Text 20"/>
          <p:cNvSpPr/>
          <p:nvPr/>
        </p:nvSpPr>
        <p:spPr>
          <a:xfrm>
            <a:off x="4572000" y="3035808"/>
            <a:ext cx="4251960" cy="45720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Each ecotron contains exactly 2 trees (non-overlapping tree IDs).</a:t>
            </a:r>
            <a:endParaRPr lang="en-US" sz="1000" dirty="0"/>
          </a:p>
          <a:p>
            <a:pPr marL="0" indent="0">
              <a:buNone/>
            </a:pPr>
            <a:r>
              <a:rPr lang="en-US" sz="1000" i="1" dirty="0">
                <a:solidFill>
                  <a:srgbClr val="64748B"/>
                </a:solidFill>
                <a:latin typeface="Calibri" pitchFamily="34" charset="0"/>
                <a:ea typeface="Calibri" pitchFamily="34" charset="-122"/>
                <a:cs typeface="Calibri" pitchFamily="34" charset="-120"/>
              </a:rPr>
              <a:t>Observation counts per tree range from 16 to 27.</a:t>
            </a:r>
            <a:endParaRPr lang="en-US" sz="1000" dirty="0"/>
          </a:p>
        </p:txBody>
      </p:sp>
      <p:sp>
        <p:nvSpPr>
          <p:cNvPr id="24" name="Shape 21"/>
          <p:cNvSpPr/>
          <p:nvPr/>
        </p:nvSpPr>
        <p:spPr>
          <a:xfrm>
            <a:off x="4572000" y="3547872"/>
            <a:ext cx="4251960" cy="1463040"/>
          </a:xfrm>
          <a:prstGeom prst="rect">
            <a:avLst/>
          </a:prstGeom>
          <a:solidFill>
            <a:srgbClr val="F4F6F8"/>
          </a:solidFill>
          <a:ln w="12700">
            <a:solidFill>
              <a:srgbClr val="F4F6F8"/>
            </a:solidFill>
            <a:prstDash val="solid"/>
          </a:ln>
        </p:spPr>
      </p:sp>
      <p:sp>
        <p:nvSpPr>
          <p:cNvPr id="25" name="Text 22"/>
          <p:cNvSpPr/>
          <p:nvPr/>
        </p:nvSpPr>
        <p:spPr>
          <a:xfrm>
            <a:off x="4663440" y="3621024"/>
            <a:ext cx="4069080" cy="292608"/>
          </a:xfrm>
          <a:prstGeom prst="rect">
            <a:avLst/>
          </a:prstGeom>
          <a:noFill/>
          <a:ln/>
        </p:spPr>
        <p:txBody>
          <a:bodyPr wrap="square" lIns="0" tIns="0" rIns="0" bIns="0"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Within-Pear Correlation (ICC ≈ 0.47)</a:t>
            </a:r>
            <a:endParaRPr lang="en-US" sz="1300" dirty="0"/>
          </a:p>
        </p:txBody>
      </p:sp>
      <p:sp>
        <p:nvSpPr>
          <p:cNvPr id="26" name="Text 23"/>
          <p:cNvSpPr/>
          <p:nvPr/>
        </p:nvSpPr>
        <p:spPr>
          <a:xfrm>
            <a:off x="4663440" y="3931920"/>
            <a:ext cx="4023360" cy="1005840"/>
          </a:xfrm>
          <a:prstGeom prst="rect">
            <a:avLst/>
          </a:prstGeom>
          <a:noFill/>
          <a:ln/>
        </p:spPr>
        <p:txBody>
          <a:bodyPr wrap="square" rtlCol="0" anchor="ctr"/>
          <a:lstStyle/>
          <a:p>
            <a:pPr marL="0" indent="0">
              <a:buNone/>
            </a:pPr>
            <a:r>
              <a:rPr lang="en-US" sz="1100" dirty="0">
                <a:solidFill>
                  <a:srgbClr val="1B2A3B"/>
                </a:solidFill>
                <a:latin typeface="Calibri" pitchFamily="34" charset="0"/>
                <a:ea typeface="Calibri" pitchFamily="34" charset="-122"/>
                <a:cs typeface="Calibri" pitchFamily="34" charset="-120"/>
              </a:rPr>
              <a:t>Nearly half of the total variability in pear size is</a:t>
            </a:r>
            <a:endParaRPr lang="en-US" sz="1100" dirty="0"/>
          </a:p>
          <a:p>
            <a:pPr marL="0" indent="0">
              <a:buNone/>
            </a:pPr>
            <a:r>
              <a:rPr lang="en-US" sz="1100" dirty="0">
                <a:solidFill>
                  <a:srgbClr val="1B2A3B"/>
                </a:solidFill>
                <a:latin typeface="Calibri" pitchFamily="34" charset="0"/>
                <a:ea typeface="Calibri" pitchFamily="34" charset="-122"/>
                <a:cs typeface="Calibri" pitchFamily="34" charset="-120"/>
              </a:rPr>
              <a:t>attributable to stable between-pear differences.</a:t>
            </a:r>
            <a:endParaRPr lang="en-US" sz="1100" dirty="0"/>
          </a:p>
          <a:p>
            <a:pPr marL="0" indent="0">
              <a:buNone/>
            </a:pPr>
            <a:r>
              <a:rPr lang="en-US" sz="1100" dirty="0">
                <a:solidFill>
                  <a:srgbClr val="1B2A3B"/>
                </a:solidFill>
                <a:latin typeface="Calibri" pitchFamily="34" charset="0"/>
                <a:ea typeface="Calibri" pitchFamily="34" charset="-122"/>
                <a:cs typeface="Calibri" pitchFamily="34" charset="-120"/>
              </a:rPr>
              <a:t>→ Mixed models with pear-level random effects are essential.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Modelling Approach</a:t>
            </a:r>
            <a:endParaRPr lang="en-US" sz="2200" dirty="0"/>
          </a:p>
        </p:txBody>
      </p:sp>
      <p:sp>
        <p:nvSpPr>
          <p:cNvPr id="4" name="Text 2"/>
          <p:cNvSpPr/>
          <p:nvPr/>
        </p:nvSpPr>
        <p:spPr>
          <a:xfrm>
            <a:off x="365760" y="658368"/>
            <a:ext cx="8412480" cy="292608"/>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Centered-time linear mixed model with pear-level random intercept and slope</a:t>
            </a:r>
            <a:endParaRPr lang="en-US" sz="1100" dirty="0"/>
          </a:p>
        </p:txBody>
      </p:sp>
      <p:sp>
        <p:nvSpPr>
          <p:cNvPr id="5" name="Text 3"/>
          <p:cNvSpPr/>
          <p:nvPr/>
        </p:nvSpPr>
        <p:spPr>
          <a:xfrm>
            <a:off x="365760" y="960120"/>
            <a:ext cx="4206240" cy="292608"/>
          </a:xfrm>
          <a:prstGeom prst="rect">
            <a:avLst/>
          </a:prstGeom>
          <a:noFill/>
          <a:ln/>
        </p:spPr>
        <p:txBody>
          <a:bodyPr wrap="square" lIns="0" tIns="0" rIns="0" bIns="0"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Model Equation</a:t>
            </a:r>
            <a:endParaRPr lang="en-US" sz="1400" dirty="0"/>
          </a:p>
        </p:txBody>
      </p:sp>
      <p:sp>
        <p:nvSpPr>
          <p:cNvPr id="6" name="Shape 4"/>
          <p:cNvSpPr/>
          <p:nvPr/>
        </p:nvSpPr>
        <p:spPr>
          <a:xfrm>
            <a:off x="365760" y="1298448"/>
            <a:ext cx="4206240" cy="1920240"/>
          </a:xfrm>
          <a:prstGeom prst="rect">
            <a:avLst/>
          </a:prstGeom>
          <a:solidFill>
            <a:srgbClr val="F0F7F4"/>
          </a:solidFill>
          <a:ln w="12700">
            <a:solidFill>
              <a:srgbClr val="52B788"/>
            </a:solidFill>
            <a:prstDash val="solid"/>
          </a:ln>
        </p:spPr>
      </p:sp>
      <p:sp>
        <p:nvSpPr>
          <p:cNvPr id="7" name="Text 5"/>
          <p:cNvSpPr/>
          <p:nvPr/>
        </p:nvSpPr>
        <p:spPr>
          <a:xfrm>
            <a:off x="457200" y="1353312"/>
            <a:ext cx="4023360" cy="1828800"/>
          </a:xfrm>
          <a:prstGeom prst="rect">
            <a:avLst/>
          </a:prstGeom>
          <a:noFill/>
          <a:ln/>
        </p:spPr>
        <p:txBody>
          <a:bodyPr wrap="square" rtlCol="0" anchor="t"/>
          <a:lstStyle/>
          <a:p>
            <a:pPr marL="0" indent="0">
              <a:buNone/>
            </a:pPr>
            <a:r>
              <a:rPr lang="en-US" sz="1100" dirty="0">
                <a:solidFill>
                  <a:srgbClr val="1B2A3B"/>
                </a:solidFill>
                <a:latin typeface="Courier New" pitchFamily="34" charset="0"/>
                <a:ea typeface="Courier New" pitchFamily="34" charset="-122"/>
                <a:cs typeface="Courier New" pitchFamily="34" charset="-120"/>
              </a:rPr>
              <a:t>yᵢⱼ = β₀ + β₁Sc2 + β₂Sc3 + β₃Sc4</a:t>
            </a:r>
            <a:endParaRPr lang="en-US" sz="1100" dirty="0"/>
          </a:p>
          <a:p>
            <a:pPr marL="0" indent="0">
              <a:buNone/>
            </a:pPr>
            <a:r>
              <a:rPr lang="en-US" sz="1100" dirty="0">
                <a:solidFill>
                  <a:srgbClr val="1B2A3B"/>
                </a:solidFill>
                <a:latin typeface="Courier New" pitchFamily="34" charset="0"/>
                <a:ea typeface="Courier New" pitchFamily="34" charset="-122"/>
                <a:cs typeface="Courier New" pitchFamily="34" charset="-120"/>
              </a:rPr>
              <a:t>   + β₄weekc + β₅weekc² + β₆Doyenne</a:t>
            </a:r>
            <a:endParaRPr lang="en-US" sz="1100" dirty="0"/>
          </a:p>
          <a:p>
            <a:pPr marL="0" indent="0">
              <a:buNone/>
            </a:pPr>
            <a:r>
              <a:rPr lang="en-US" sz="1100" dirty="0">
                <a:solidFill>
                  <a:srgbClr val="1B2A3B"/>
                </a:solidFill>
                <a:latin typeface="Courier New" pitchFamily="34" charset="0"/>
                <a:ea typeface="Courier New" pitchFamily="34" charset="-122"/>
                <a:cs typeface="Courier New" pitchFamily="34" charset="-120"/>
              </a:rPr>
              <a:t>   + β₇(Sc2×weekc) + β₈(Sc3×weekc)</a:t>
            </a:r>
            <a:endParaRPr lang="en-US" sz="1100" dirty="0"/>
          </a:p>
          <a:p>
            <a:pPr marL="0" indent="0">
              <a:buNone/>
            </a:pPr>
            <a:r>
              <a:rPr lang="en-US" sz="1100" dirty="0">
                <a:solidFill>
                  <a:srgbClr val="1B2A3B"/>
                </a:solidFill>
                <a:latin typeface="Courier New" pitchFamily="34" charset="0"/>
                <a:ea typeface="Courier New" pitchFamily="34" charset="-122"/>
                <a:cs typeface="Courier New" pitchFamily="34" charset="-120"/>
              </a:rPr>
              <a:t>   + β₉(Sc4×weekc)</a:t>
            </a:r>
            <a:endParaRPr lang="en-US" sz="1100" dirty="0"/>
          </a:p>
          <a:p>
            <a:pPr marL="0" indent="0">
              <a:buNone/>
            </a:pPr>
            <a:r>
              <a:rPr lang="en-US" sz="1100" dirty="0">
                <a:solidFill>
                  <a:srgbClr val="1B2A3B"/>
                </a:solidFill>
                <a:latin typeface="Courier New" pitchFamily="34" charset="0"/>
                <a:ea typeface="Courier New" pitchFamily="34" charset="-122"/>
                <a:cs typeface="Courier New" pitchFamily="34" charset="-120"/>
              </a:rPr>
              <a:t>   + β₁₀(Doyenne×weekc)</a:t>
            </a:r>
            <a:endParaRPr lang="en-US" sz="1100" dirty="0"/>
          </a:p>
          <a:p>
            <a:pPr marL="0" indent="0">
              <a:buNone/>
            </a:pPr>
            <a:r>
              <a:rPr lang="en-US" sz="1100" dirty="0">
                <a:solidFill>
                  <a:srgbClr val="1B2A3B"/>
                </a:solidFill>
                <a:latin typeface="Courier New" pitchFamily="34" charset="0"/>
                <a:ea typeface="Courier New" pitchFamily="34" charset="-122"/>
                <a:cs typeface="Courier New" pitchFamily="34" charset="-120"/>
              </a:rPr>
              <a:t>   + β₁₁(Doyenne×weekc²)</a:t>
            </a:r>
            <a:endParaRPr lang="en-US" sz="1100" dirty="0"/>
          </a:p>
          <a:p>
            <a:pPr marL="0" indent="0">
              <a:buNone/>
            </a:pPr>
            <a:r>
              <a:rPr lang="en-US" sz="1100" dirty="0">
                <a:solidFill>
                  <a:srgbClr val="1B2A3B"/>
                </a:solidFill>
                <a:latin typeface="Courier New" pitchFamily="34" charset="0"/>
                <a:ea typeface="Courier New" pitchFamily="34" charset="-122"/>
                <a:cs typeface="Courier New" pitchFamily="34" charset="-120"/>
              </a:rPr>
              <a:t>   + b₀ᵢ + b₁ᵢ⋅weekc + εᵢⱼ</a:t>
            </a:r>
            <a:endParaRPr lang="en-US" sz="1100" dirty="0"/>
          </a:p>
        </p:txBody>
      </p:sp>
      <p:sp>
        <p:nvSpPr>
          <p:cNvPr id="8" name="Text 6"/>
          <p:cNvSpPr/>
          <p:nvPr/>
        </p:nvSpPr>
        <p:spPr>
          <a:xfrm>
            <a:off x="365760" y="3291840"/>
            <a:ext cx="4206240" cy="256032"/>
          </a:xfrm>
          <a:prstGeom prst="rect">
            <a:avLst/>
          </a:prstGeom>
          <a:noFill/>
          <a:ln/>
        </p:spPr>
        <p:txBody>
          <a:bodyPr wrap="square" lIns="0" tIns="0" rIns="0" bIns="0"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Fixed effects</a:t>
            </a:r>
            <a:endParaRPr lang="en-US" sz="1200" dirty="0"/>
          </a:p>
        </p:txBody>
      </p:sp>
      <p:sp>
        <p:nvSpPr>
          <p:cNvPr id="9" name="Text 7"/>
          <p:cNvSpPr/>
          <p:nvPr/>
        </p:nvSpPr>
        <p:spPr>
          <a:xfrm>
            <a:off x="365760" y="3566160"/>
            <a:ext cx="4206240" cy="502920"/>
          </a:xfrm>
          <a:prstGeom prst="rect">
            <a:avLst/>
          </a:prstGeom>
          <a:noFill/>
          <a:ln/>
        </p:spPr>
        <p:txBody>
          <a:bodyPr wrap="square" rtlCol="0" anchor="ctr"/>
          <a:lstStyle/>
          <a:p>
            <a:pPr marL="0" indent="0">
              <a:buNone/>
            </a:pPr>
            <a:r>
              <a:rPr lang="en-US" sz="1000" b="1" dirty="0">
                <a:solidFill>
                  <a:srgbClr val="1B2A3B"/>
                </a:solidFill>
                <a:latin typeface="Calibri" pitchFamily="34" charset="0"/>
                <a:ea typeface="Calibri" pitchFamily="34" charset="-122"/>
                <a:cs typeface="Calibri" pitchFamily="34" charset="-120"/>
              </a:rPr>
              <a:t>β₀</a:t>
            </a:r>
            <a:r>
              <a:rPr lang="en-US" sz="1000" dirty="0">
                <a:solidFill>
                  <a:srgbClr val="1B2A3B"/>
                </a:solidFill>
                <a:latin typeface="Calibri" pitchFamily="34" charset="0"/>
                <a:ea typeface="Calibri" pitchFamily="34" charset="-122"/>
                <a:cs typeface="Calibri" pitchFamily="34" charset="-120"/>
              </a:rPr>
              <a:t>: intercept (Sc1, Conference, weekc=0);  </a:t>
            </a:r>
            <a:r>
              <a:rPr lang="en-US" sz="1000" b="1" dirty="0">
                <a:solidFill>
                  <a:srgbClr val="1B2A3B"/>
                </a:solidFill>
                <a:latin typeface="Calibri" pitchFamily="34" charset="0"/>
                <a:ea typeface="Calibri" pitchFamily="34" charset="-122"/>
                <a:cs typeface="Calibri" pitchFamily="34" charset="-120"/>
              </a:rPr>
              <a:t>β₁–β₃</a:t>
            </a:r>
            <a:r>
              <a:rPr lang="en-US" sz="1000" dirty="0">
                <a:solidFill>
                  <a:srgbClr val="1B2A3B"/>
                </a:solidFill>
                <a:latin typeface="Calibri" pitchFamily="34" charset="0"/>
                <a:ea typeface="Calibri" pitchFamily="34" charset="-122"/>
                <a:cs typeface="Calibri" pitchFamily="34" charset="-120"/>
              </a:rPr>
              <a:t>: scenario main effects;  </a:t>
            </a:r>
            <a:r>
              <a:rPr lang="en-US" sz="1000" b="1" dirty="0">
                <a:solidFill>
                  <a:srgbClr val="1B2A3B"/>
                </a:solidFill>
                <a:latin typeface="Calibri" pitchFamily="34" charset="0"/>
                <a:ea typeface="Calibri" pitchFamily="34" charset="-122"/>
                <a:cs typeface="Calibri" pitchFamily="34" charset="-120"/>
              </a:rPr>
              <a:t>β₆</a:t>
            </a:r>
            <a:r>
              <a:rPr lang="en-US" sz="1000" dirty="0">
                <a:solidFill>
                  <a:srgbClr val="1B2A3B"/>
                </a:solidFill>
                <a:latin typeface="Calibri" pitchFamily="34" charset="0"/>
                <a:ea typeface="Calibri" pitchFamily="34" charset="-122"/>
                <a:cs typeface="Calibri" pitchFamily="34" charset="-120"/>
              </a:rPr>
              <a:t>: variety effect</a:t>
            </a:r>
            <a:endParaRPr lang="en-US" sz="1000" dirty="0"/>
          </a:p>
        </p:txBody>
      </p:sp>
      <p:sp>
        <p:nvSpPr>
          <p:cNvPr id="10" name="Text 8"/>
          <p:cNvSpPr/>
          <p:nvPr/>
        </p:nvSpPr>
        <p:spPr>
          <a:xfrm>
            <a:off x="365760" y="4114800"/>
            <a:ext cx="4206240" cy="256032"/>
          </a:xfrm>
          <a:prstGeom prst="rect">
            <a:avLst/>
          </a:prstGeom>
          <a:noFill/>
          <a:ln/>
        </p:spPr>
        <p:txBody>
          <a:bodyPr wrap="square" lIns="0" tIns="0" rIns="0" bIns="0"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Random effects (pear-level)</a:t>
            </a:r>
            <a:endParaRPr lang="en-US" sz="1200" dirty="0"/>
          </a:p>
        </p:txBody>
      </p:sp>
      <p:sp>
        <p:nvSpPr>
          <p:cNvPr id="11" name="Shape 9"/>
          <p:cNvSpPr/>
          <p:nvPr/>
        </p:nvSpPr>
        <p:spPr>
          <a:xfrm>
            <a:off x="365760" y="4389120"/>
            <a:ext cx="4206240" cy="594360"/>
          </a:xfrm>
          <a:prstGeom prst="rect">
            <a:avLst/>
          </a:prstGeom>
          <a:solidFill>
            <a:srgbClr val="D8F3DC"/>
          </a:solidFill>
          <a:ln w="12700">
            <a:solidFill>
              <a:srgbClr val="52B788"/>
            </a:solidFill>
            <a:prstDash val="solid"/>
          </a:ln>
        </p:spPr>
      </p:sp>
      <p:sp>
        <p:nvSpPr>
          <p:cNvPr id="12" name="Text 10"/>
          <p:cNvSpPr/>
          <p:nvPr/>
        </p:nvSpPr>
        <p:spPr>
          <a:xfrm>
            <a:off x="457200" y="4407408"/>
            <a:ext cx="4023360" cy="566928"/>
          </a:xfrm>
          <a:prstGeom prst="rect">
            <a:avLst/>
          </a:prstGeom>
          <a:noFill/>
          <a:ln/>
        </p:spPr>
        <p:txBody>
          <a:bodyPr wrap="square" rtlCol="0" anchor="t"/>
          <a:lstStyle/>
          <a:p>
            <a:pPr marL="0" indent="0">
              <a:buNone/>
            </a:pPr>
            <a:r>
              <a:rPr lang="en-US" sz="1000" dirty="0">
                <a:solidFill>
                  <a:srgbClr val="1B2A3B"/>
                </a:solidFill>
                <a:latin typeface="Calibri" pitchFamily="34" charset="0"/>
                <a:ea typeface="Calibri" pitchFamily="34" charset="-122"/>
                <a:cs typeface="Calibri" pitchFamily="34" charset="-120"/>
              </a:rPr>
              <a:t>b₀ᵢ ~ N(0, σ²_b0): random intercept per pear</a:t>
            </a:r>
            <a:endParaRPr lang="en-US" sz="1000" dirty="0"/>
          </a:p>
          <a:p>
            <a:pPr marL="0" indent="0">
              <a:buNone/>
            </a:pPr>
            <a:r>
              <a:rPr lang="en-US" sz="1000" dirty="0">
                <a:solidFill>
                  <a:srgbClr val="1B2A3B"/>
                </a:solidFill>
                <a:latin typeface="Calibri" pitchFamily="34" charset="0"/>
                <a:ea typeface="Calibri" pitchFamily="34" charset="-122"/>
                <a:cs typeface="Calibri" pitchFamily="34" charset="-120"/>
              </a:rPr>
              <a:t>b₁ᵢ ~ N(0, σ²_b1): random slope (weekc) per pear</a:t>
            </a:r>
            <a:endParaRPr lang="en-US" sz="1000" dirty="0"/>
          </a:p>
          <a:p>
            <a:pPr marL="0" indent="0">
              <a:buNone/>
            </a:pPr>
            <a:r>
              <a:rPr lang="en-US" sz="1000" dirty="0">
                <a:solidFill>
                  <a:srgbClr val="1B2A3B"/>
                </a:solidFill>
                <a:latin typeface="Calibri" pitchFamily="34" charset="0"/>
                <a:ea typeface="Calibri" pitchFamily="34" charset="-122"/>
                <a:cs typeface="Calibri" pitchFamily="34" charset="-120"/>
              </a:rPr>
              <a:t>Corr(b₀, b₁) = 0.70   |   εᵢⱼ ~ N(0, σ²)</a:t>
            </a:r>
            <a:endParaRPr lang="en-US" sz="1000" dirty="0"/>
          </a:p>
        </p:txBody>
      </p:sp>
      <p:sp>
        <p:nvSpPr>
          <p:cNvPr id="13" name="Shape 11"/>
          <p:cNvSpPr/>
          <p:nvPr/>
        </p:nvSpPr>
        <p:spPr>
          <a:xfrm>
            <a:off x="4709160" y="960120"/>
            <a:ext cx="36576" cy="4114800"/>
          </a:xfrm>
          <a:prstGeom prst="rect">
            <a:avLst/>
          </a:prstGeom>
          <a:solidFill>
            <a:srgbClr val="52B788"/>
          </a:solidFill>
          <a:ln w="12700">
            <a:solidFill>
              <a:srgbClr val="52B788"/>
            </a:solidFill>
            <a:prstDash val="solid"/>
          </a:ln>
        </p:spPr>
      </p:sp>
      <p:sp>
        <p:nvSpPr>
          <p:cNvPr id="14" name="Text 12"/>
          <p:cNvSpPr/>
          <p:nvPr/>
        </p:nvSpPr>
        <p:spPr>
          <a:xfrm>
            <a:off x="4892040" y="960120"/>
            <a:ext cx="4023360" cy="274320"/>
          </a:xfrm>
          <a:prstGeom prst="rect">
            <a:avLst/>
          </a:prstGeom>
          <a:noFill/>
          <a:ln/>
        </p:spPr>
        <p:txBody>
          <a:bodyPr wrap="square" lIns="0" tIns="0" rIns="0" bIns="0"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Week Centering</a:t>
            </a:r>
            <a:endParaRPr lang="en-US" sz="1400" dirty="0"/>
          </a:p>
        </p:txBody>
      </p:sp>
      <p:sp>
        <p:nvSpPr>
          <p:cNvPr id="15" name="Shape 13"/>
          <p:cNvSpPr/>
          <p:nvPr/>
        </p:nvSpPr>
        <p:spPr>
          <a:xfrm>
            <a:off x="4892040" y="1280160"/>
            <a:ext cx="3931920" cy="640080"/>
          </a:xfrm>
          <a:prstGeom prst="rect">
            <a:avLst/>
          </a:prstGeom>
          <a:solidFill>
            <a:srgbClr val="F0F7F4"/>
          </a:solidFill>
          <a:ln w="12700">
            <a:solidFill>
              <a:srgbClr val="52B788"/>
            </a:solidFill>
            <a:prstDash val="solid"/>
          </a:ln>
        </p:spPr>
      </p:sp>
      <p:sp>
        <p:nvSpPr>
          <p:cNvPr id="16" name="Text 14"/>
          <p:cNvSpPr/>
          <p:nvPr/>
        </p:nvSpPr>
        <p:spPr>
          <a:xfrm>
            <a:off x="4983480" y="1307592"/>
            <a:ext cx="3749040" cy="347472"/>
          </a:xfrm>
          <a:prstGeom prst="rect">
            <a:avLst/>
          </a:prstGeom>
          <a:noFill/>
          <a:ln/>
        </p:spPr>
        <p:txBody>
          <a:bodyPr wrap="square" rtlCol="0" anchor="ctr"/>
          <a:lstStyle/>
          <a:p>
            <a:pPr marL="0" indent="0">
              <a:buNone/>
            </a:pPr>
            <a:r>
              <a:rPr lang="en-US" sz="1300" b="1" dirty="0">
                <a:solidFill>
                  <a:srgbClr val="1B2A3B"/>
                </a:solidFill>
                <a:latin typeface="Courier New" pitchFamily="34" charset="0"/>
                <a:ea typeface="Courier New" pitchFamily="34" charset="-122"/>
                <a:cs typeface="Courier New" pitchFamily="34" charset="-120"/>
              </a:rPr>
              <a:t>weekc = week − mean(week)</a:t>
            </a:r>
            <a:endParaRPr lang="en-US" sz="1300" dirty="0"/>
          </a:p>
        </p:txBody>
      </p:sp>
      <p:sp>
        <p:nvSpPr>
          <p:cNvPr id="17" name="Text 15"/>
          <p:cNvSpPr/>
          <p:nvPr/>
        </p:nvSpPr>
        <p:spPr>
          <a:xfrm>
            <a:off x="4892040" y="1947672"/>
            <a:ext cx="39319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Reduces collinearity between week and week²; stabilises estimation.</a:t>
            </a:r>
            <a:endParaRPr lang="en-US" sz="1000" dirty="0"/>
          </a:p>
        </p:txBody>
      </p:sp>
      <p:sp>
        <p:nvSpPr>
          <p:cNvPr id="18" name="Text 16"/>
          <p:cNvSpPr/>
          <p:nvPr/>
        </p:nvSpPr>
        <p:spPr>
          <a:xfrm>
            <a:off x="4892040" y="2286000"/>
            <a:ext cx="3931920" cy="274320"/>
          </a:xfrm>
          <a:prstGeom prst="rect">
            <a:avLst/>
          </a:prstGeom>
          <a:noFill/>
          <a:ln/>
        </p:spPr>
        <p:txBody>
          <a:bodyPr wrap="square" lIns="0" tIns="0" rIns="0" bIns="0"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Model Selection (AIC / BIC)</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932679786"/>
              </p:ext>
            </p:extLst>
          </p:nvPr>
        </p:nvGraphicFramePr>
        <p:xfrm>
          <a:off x="4892040" y="2606040"/>
          <a:ext cx="3931920" cy="1959426"/>
        </p:xfrm>
        <a:graphic>
          <a:graphicData uri="http://schemas.openxmlformats.org/drawingml/2006/table">
            <a:tbl>
              <a:tblPr/>
              <a:tblGrid>
                <a:gridCol w="24688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26571">
                <a:tc>
                  <a:txBody>
                    <a:bodyPr/>
                    <a:lstStyle/>
                    <a:p>
                      <a:pPr marL="0" indent="0">
                        <a:buNone/>
                      </a:pPr>
                      <a:r>
                        <a:rPr lang="en-US" sz="900" b="1" dirty="0">
                          <a:solidFill>
                            <a:srgbClr val="FFFFFF"/>
                          </a:solidFill>
                        </a:rPr>
                        <a:t>Model</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AIC</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BIC</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326571">
                <a:tc>
                  <a:txBody>
                    <a:bodyPr/>
                    <a:lstStyle/>
                    <a:p>
                      <a:pPr marL="0" indent="0">
                        <a:buNone/>
                      </a:pPr>
                      <a:r>
                        <a:rPr lang="en-US" sz="900" dirty="0">
                          <a:solidFill>
                            <a:srgbClr val="000000"/>
                          </a:solidFill>
                        </a:rPr>
                        <a:t>Linear + rand. intercept</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754.7</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865.3</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6571">
                <a:tc>
                  <a:txBody>
                    <a:bodyPr/>
                    <a:lstStyle/>
                    <a:p>
                      <a:pPr marL="0" indent="0">
                        <a:buNone/>
                      </a:pPr>
                      <a:r>
                        <a:rPr lang="en-US" sz="900" dirty="0">
                          <a:solidFill>
                            <a:srgbClr val="000000"/>
                          </a:solidFill>
                        </a:rPr>
                        <a:t>Linear + rand. int. &amp; slope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435.4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558.3</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6571">
                <a:tc>
                  <a:txBody>
                    <a:bodyPr/>
                    <a:lstStyle/>
                    <a:p>
                      <a:pPr marL="0" indent="0">
                        <a:buNone/>
                      </a:pPr>
                      <a:r>
                        <a:rPr lang="en-US" sz="900" dirty="0">
                          <a:solidFill>
                            <a:srgbClr val="000000"/>
                          </a:solidFill>
                        </a:rPr>
                        <a:t>Quadratic + rand. intercept</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823.8</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983.5</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6571">
                <a:tc>
                  <a:txBody>
                    <a:bodyPr/>
                    <a:lstStyle/>
                    <a:p>
                      <a:pPr marL="0" indent="0">
                        <a:buNone/>
                      </a:pPr>
                      <a:r>
                        <a:rPr lang="en-US" sz="900" dirty="0">
                          <a:solidFill>
                            <a:srgbClr val="000000"/>
                          </a:solidFill>
                        </a:rPr>
                        <a:t>Quadratic + rand. int. &amp; slope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496.4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668.4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65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rgbClr val="1B4332"/>
                          </a:solidFill>
                        </a:rPr>
                        <a:t>★ Centered week + reduced interaction (FINAL)</a:t>
                      </a:r>
                      <a:endParaRPr lang="en-US" sz="900" b="1"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8F3DC"/>
                    </a:solidFill>
                  </a:tcPr>
                </a:tc>
                <a:tc>
                  <a:txBody>
                    <a:bodyPr/>
                    <a:lstStyle/>
                    <a:p>
                      <a:pPr marL="0" indent="0" algn="ctr">
                        <a:buNone/>
                      </a:pPr>
                      <a:r>
                        <a:rPr lang="en-US" sz="900" b="1" dirty="0">
                          <a:solidFill>
                            <a:srgbClr val="1B4332"/>
                          </a:solidFill>
                        </a:rPr>
                        <a:t>368.4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8F3DC"/>
                    </a:solidFill>
                  </a:tcPr>
                </a:tc>
                <a:tc>
                  <a:txBody>
                    <a:bodyPr/>
                    <a:lstStyle/>
                    <a:p>
                      <a:pPr marL="0" indent="0" algn="ctr">
                        <a:buNone/>
                      </a:pPr>
                      <a:r>
                        <a:rPr lang="en-US" sz="900" b="1" dirty="0">
                          <a:solidFill>
                            <a:srgbClr val="1B4332"/>
                          </a:solidFill>
                        </a:rPr>
                        <a:t>466.7</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8F3D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Pear Growth Over Time</a:t>
            </a:r>
            <a:endParaRPr lang="en-US" sz="2200" dirty="0"/>
          </a:p>
        </p:txBody>
      </p:sp>
      <p:sp>
        <p:nvSpPr>
          <p:cNvPr id="4" name="Text 2"/>
          <p:cNvSpPr/>
          <p:nvPr/>
        </p:nvSpPr>
        <p:spPr>
          <a:xfrm>
            <a:off x="365760" y="658368"/>
            <a:ext cx="8412480" cy="292608"/>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Model-implied trajectories by climate scenario and variety (from Table 7 fixed effects)</a:t>
            </a:r>
            <a:endParaRPr lang="en-US" sz="1100" dirty="0"/>
          </a:p>
        </p:txBody>
      </p:sp>
      <p:graphicFrame>
        <p:nvGraphicFramePr>
          <p:cNvPr id="5" name="Chart 0"/>
          <p:cNvGraphicFramePr/>
          <p:nvPr/>
        </p:nvGraphicFramePr>
        <p:xfrm>
          <a:off x="274320" y="960120"/>
          <a:ext cx="530352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06440" y="1005840"/>
            <a:ext cx="82296" cy="886968"/>
          </a:xfrm>
          <a:prstGeom prst="rect">
            <a:avLst/>
          </a:prstGeom>
          <a:solidFill>
            <a:srgbClr val="2D9E6B"/>
          </a:solidFill>
          <a:ln w="12700">
            <a:solidFill>
              <a:srgbClr val="2D9E6B"/>
            </a:solidFill>
            <a:prstDash val="solid"/>
          </a:ln>
        </p:spPr>
      </p:sp>
      <p:sp>
        <p:nvSpPr>
          <p:cNvPr id="7" name="Shape 4"/>
          <p:cNvSpPr/>
          <p:nvPr/>
        </p:nvSpPr>
        <p:spPr>
          <a:xfrm>
            <a:off x="5888736" y="1005840"/>
            <a:ext cx="2926080" cy="886968"/>
          </a:xfrm>
          <a:prstGeom prst="rect">
            <a:avLst/>
          </a:prstGeom>
          <a:solidFill>
            <a:srgbClr val="F4F6F8"/>
          </a:solidFill>
          <a:ln w="12700">
            <a:solidFill>
              <a:srgbClr val="F4F6F8"/>
            </a:solidFill>
            <a:prstDash val="solid"/>
          </a:ln>
        </p:spPr>
      </p:sp>
      <p:sp>
        <p:nvSpPr>
          <p:cNvPr id="8" name="Text 5"/>
          <p:cNvSpPr/>
          <p:nvPr/>
        </p:nvSpPr>
        <p:spPr>
          <a:xfrm>
            <a:off x="5980176" y="1042416"/>
            <a:ext cx="2743200" cy="228600"/>
          </a:xfrm>
          <a:prstGeom prst="rect">
            <a:avLst/>
          </a:prstGeom>
          <a:noFill/>
          <a:ln/>
        </p:spPr>
        <p:txBody>
          <a:bodyPr wrap="square" lIns="0" tIns="0" rIns="0" bIns="0" rtlCol="0" anchor="ctr"/>
          <a:lstStyle/>
          <a:p>
            <a:pPr marL="0" indent="0">
              <a:buNone/>
            </a:pPr>
            <a:r>
              <a:rPr lang="en-US" sz="1100" b="1" dirty="0">
                <a:solidFill>
                  <a:srgbClr val="2D9E6B"/>
                </a:solidFill>
                <a:latin typeface="Calibri" pitchFamily="34" charset="0"/>
                <a:ea typeface="Calibri" pitchFamily="34" charset="-122"/>
                <a:cs typeface="Calibri" pitchFamily="34" charset="-120"/>
              </a:rPr>
              <a:t>Scenario 2</a:t>
            </a:r>
            <a:endParaRPr lang="en-US" sz="1100" dirty="0"/>
          </a:p>
        </p:txBody>
      </p:sp>
      <p:sp>
        <p:nvSpPr>
          <p:cNvPr id="9" name="Text 6"/>
          <p:cNvSpPr/>
          <p:nvPr/>
        </p:nvSpPr>
        <p:spPr>
          <a:xfrm>
            <a:off x="5980176" y="1280160"/>
            <a:ext cx="2788920" cy="585216"/>
          </a:xfrm>
          <a:prstGeom prst="rect">
            <a:avLst/>
          </a:prstGeom>
          <a:noFill/>
          <a:ln/>
        </p:spPr>
        <p:txBody>
          <a:bodyPr wrap="square" lIns="0" tIns="0" rIns="0" bIns="0" rtlCol="0" anchor="ctr"/>
          <a:lstStyle/>
          <a:p>
            <a:pPr marL="0" indent="0">
              <a:buNone/>
            </a:pPr>
            <a:r>
              <a:rPr lang="en-US" sz="950" dirty="0">
                <a:solidFill>
                  <a:srgbClr val="1B2A3B"/>
                </a:solidFill>
                <a:latin typeface="Calibri" pitchFamily="34" charset="0"/>
                <a:ea typeface="Calibri" pitchFamily="34" charset="-122"/>
                <a:cs typeface="Calibri" pitchFamily="34" charset="-120"/>
              </a:rPr>
              <a:t>Largest baseline size (6.895+0.651) &amp;</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fastest slope (+0.051/week vs S1)</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[both p &lt; 0.0001]</a:t>
            </a:r>
            <a:endParaRPr lang="en-US" sz="950" dirty="0"/>
          </a:p>
        </p:txBody>
      </p:sp>
      <p:sp>
        <p:nvSpPr>
          <p:cNvPr id="10" name="Shape 7"/>
          <p:cNvSpPr/>
          <p:nvPr/>
        </p:nvSpPr>
        <p:spPr>
          <a:xfrm>
            <a:off x="5806440" y="2011680"/>
            <a:ext cx="82296" cy="886968"/>
          </a:xfrm>
          <a:prstGeom prst="rect">
            <a:avLst/>
          </a:prstGeom>
          <a:solidFill>
            <a:srgbClr val="1A72B8"/>
          </a:solidFill>
          <a:ln w="12700">
            <a:solidFill>
              <a:srgbClr val="1A72B8"/>
            </a:solidFill>
            <a:prstDash val="solid"/>
          </a:ln>
        </p:spPr>
      </p:sp>
      <p:sp>
        <p:nvSpPr>
          <p:cNvPr id="11" name="Shape 8"/>
          <p:cNvSpPr/>
          <p:nvPr/>
        </p:nvSpPr>
        <p:spPr>
          <a:xfrm>
            <a:off x="5888736" y="2011680"/>
            <a:ext cx="2926080" cy="886968"/>
          </a:xfrm>
          <a:prstGeom prst="rect">
            <a:avLst/>
          </a:prstGeom>
          <a:solidFill>
            <a:srgbClr val="F4F6F8"/>
          </a:solidFill>
          <a:ln w="12700">
            <a:solidFill>
              <a:srgbClr val="F4F6F8"/>
            </a:solidFill>
            <a:prstDash val="solid"/>
          </a:ln>
        </p:spPr>
      </p:sp>
      <p:sp>
        <p:nvSpPr>
          <p:cNvPr id="12" name="Text 9"/>
          <p:cNvSpPr/>
          <p:nvPr/>
        </p:nvSpPr>
        <p:spPr>
          <a:xfrm>
            <a:off x="5980176" y="2048256"/>
            <a:ext cx="2743200" cy="228600"/>
          </a:xfrm>
          <a:prstGeom prst="rect">
            <a:avLst/>
          </a:prstGeom>
          <a:noFill/>
          <a:ln/>
        </p:spPr>
        <p:txBody>
          <a:bodyPr wrap="square" lIns="0" tIns="0" rIns="0" bIns="0" rtlCol="0" anchor="ctr"/>
          <a:lstStyle/>
          <a:p>
            <a:pPr marL="0" indent="0">
              <a:buNone/>
            </a:pPr>
            <a:r>
              <a:rPr lang="en-US" sz="1100" b="1" dirty="0">
                <a:solidFill>
                  <a:srgbClr val="1A72B8"/>
                </a:solidFill>
                <a:latin typeface="Calibri" pitchFamily="34" charset="0"/>
                <a:ea typeface="Calibri" pitchFamily="34" charset="-122"/>
                <a:cs typeface="Calibri" pitchFamily="34" charset="-120"/>
              </a:rPr>
              <a:t>Scenario 4</a:t>
            </a:r>
            <a:endParaRPr lang="en-US" sz="1100" dirty="0"/>
          </a:p>
        </p:txBody>
      </p:sp>
      <p:sp>
        <p:nvSpPr>
          <p:cNvPr id="13" name="Text 10"/>
          <p:cNvSpPr/>
          <p:nvPr/>
        </p:nvSpPr>
        <p:spPr>
          <a:xfrm>
            <a:off x="5980176" y="2286000"/>
            <a:ext cx="2788920" cy="585216"/>
          </a:xfrm>
          <a:prstGeom prst="rect">
            <a:avLst/>
          </a:prstGeom>
          <a:noFill/>
          <a:ln/>
        </p:spPr>
        <p:txBody>
          <a:bodyPr wrap="square" lIns="0" tIns="0" rIns="0" bIns="0" rtlCol="0" anchor="ctr"/>
          <a:lstStyle/>
          <a:p>
            <a:pPr marL="0" indent="0">
              <a:buNone/>
            </a:pPr>
            <a:r>
              <a:rPr lang="en-US" sz="950" dirty="0">
                <a:solidFill>
                  <a:srgbClr val="1B2A3B"/>
                </a:solidFill>
                <a:latin typeface="Calibri" pitchFamily="34" charset="0"/>
                <a:ea typeface="Calibri" pitchFamily="34" charset="-122"/>
                <a:cs typeface="Calibri" pitchFamily="34" charset="-120"/>
              </a:rPr>
              <a:t>Moderate baseline gain (6.895+0.185)</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&amp; moderate slope (+0.015/week)</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[both p &lt; 0.001]</a:t>
            </a:r>
            <a:endParaRPr lang="en-US" sz="950" dirty="0"/>
          </a:p>
        </p:txBody>
      </p:sp>
      <p:sp>
        <p:nvSpPr>
          <p:cNvPr id="14" name="Shape 11"/>
          <p:cNvSpPr/>
          <p:nvPr/>
        </p:nvSpPr>
        <p:spPr>
          <a:xfrm>
            <a:off x="5806440" y="3017520"/>
            <a:ext cx="82296" cy="886968"/>
          </a:xfrm>
          <a:prstGeom prst="rect">
            <a:avLst/>
          </a:prstGeom>
          <a:solidFill>
            <a:srgbClr val="E07020"/>
          </a:solidFill>
          <a:ln w="12700">
            <a:solidFill>
              <a:srgbClr val="E07020"/>
            </a:solidFill>
            <a:prstDash val="solid"/>
          </a:ln>
        </p:spPr>
      </p:sp>
      <p:sp>
        <p:nvSpPr>
          <p:cNvPr id="15" name="Shape 12"/>
          <p:cNvSpPr/>
          <p:nvPr/>
        </p:nvSpPr>
        <p:spPr>
          <a:xfrm>
            <a:off x="5888736" y="3017520"/>
            <a:ext cx="2926080" cy="886968"/>
          </a:xfrm>
          <a:prstGeom prst="rect">
            <a:avLst/>
          </a:prstGeom>
          <a:solidFill>
            <a:srgbClr val="F4F6F8"/>
          </a:solidFill>
          <a:ln w="12700">
            <a:solidFill>
              <a:srgbClr val="F4F6F8"/>
            </a:solidFill>
            <a:prstDash val="solid"/>
          </a:ln>
        </p:spPr>
      </p:sp>
      <p:sp>
        <p:nvSpPr>
          <p:cNvPr id="16" name="Text 13"/>
          <p:cNvSpPr/>
          <p:nvPr/>
        </p:nvSpPr>
        <p:spPr>
          <a:xfrm>
            <a:off x="5980176" y="3054096"/>
            <a:ext cx="2743200" cy="228600"/>
          </a:xfrm>
          <a:prstGeom prst="rect">
            <a:avLst/>
          </a:prstGeom>
          <a:noFill/>
          <a:ln/>
        </p:spPr>
        <p:txBody>
          <a:bodyPr wrap="square" lIns="0" tIns="0" rIns="0" bIns="0" rtlCol="0" anchor="ctr"/>
          <a:lstStyle/>
          <a:p>
            <a:pPr marL="0" indent="0">
              <a:buNone/>
            </a:pPr>
            <a:r>
              <a:rPr lang="en-US" sz="1100" b="1" dirty="0">
                <a:solidFill>
                  <a:srgbClr val="E07020"/>
                </a:solidFill>
                <a:latin typeface="Calibri" pitchFamily="34" charset="0"/>
                <a:ea typeface="Calibri" pitchFamily="34" charset="-122"/>
                <a:cs typeface="Calibri" pitchFamily="34" charset="-120"/>
              </a:rPr>
              <a:t>Scenario 3</a:t>
            </a:r>
            <a:endParaRPr lang="en-US" sz="1100" dirty="0"/>
          </a:p>
        </p:txBody>
      </p:sp>
      <p:sp>
        <p:nvSpPr>
          <p:cNvPr id="17" name="Text 14"/>
          <p:cNvSpPr/>
          <p:nvPr/>
        </p:nvSpPr>
        <p:spPr>
          <a:xfrm>
            <a:off x="5980176" y="3291840"/>
            <a:ext cx="2788920" cy="585216"/>
          </a:xfrm>
          <a:prstGeom prst="rect">
            <a:avLst/>
          </a:prstGeom>
          <a:noFill/>
          <a:ln/>
        </p:spPr>
        <p:txBody>
          <a:bodyPr wrap="square" lIns="0" tIns="0" rIns="0" bIns="0" rtlCol="0" anchor="ctr"/>
          <a:lstStyle/>
          <a:p>
            <a:pPr marL="0" indent="0">
              <a:buNone/>
            </a:pPr>
            <a:r>
              <a:rPr lang="en-US" sz="950" dirty="0">
                <a:solidFill>
                  <a:srgbClr val="1B2A3B"/>
                </a:solidFill>
                <a:latin typeface="Calibri" pitchFamily="34" charset="0"/>
                <a:ea typeface="Calibri" pitchFamily="34" charset="-122"/>
                <a:cs typeface="Calibri" pitchFamily="34" charset="-120"/>
              </a:rPr>
              <a:t>Slightly lower baseline (6.895−0.096)</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Growth slope indistinct from S1</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[interaction p = 0.885]</a:t>
            </a:r>
            <a:endParaRPr lang="en-US" sz="950" dirty="0"/>
          </a:p>
        </p:txBody>
      </p:sp>
      <p:sp>
        <p:nvSpPr>
          <p:cNvPr id="18" name="Shape 15"/>
          <p:cNvSpPr/>
          <p:nvPr/>
        </p:nvSpPr>
        <p:spPr>
          <a:xfrm>
            <a:off x="5806440" y="4023360"/>
            <a:ext cx="82296" cy="886968"/>
          </a:xfrm>
          <a:prstGeom prst="rect">
            <a:avLst/>
          </a:prstGeom>
          <a:solidFill>
            <a:srgbClr val="4A4E69"/>
          </a:solidFill>
          <a:ln w="12700">
            <a:solidFill>
              <a:srgbClr val="4A4E69"/>
            </a:solidFill>
            <a:prstDash val="solid"/>
          </a:ln>
        </p:spPr>
      </p:sp>
      <p:sp>
        <p:nvSpPr>
          <p:cNvPr id="19" name="Shape 16"/>
          <p:cNvSpPr/>
          <p:nvPr/>
        </p:nvSpPr>
        <p:spPr>
          <a:xfrm>
            <a:off x="5888736" y="4023360"/>
            <a:ext cx="2926080" cy="886968"/>
          </a:xfrm>
          <a:prstGeom prst="rect">
            <a:avLst/>
          </a:prstGeom>
          <a:solidFill>
            <a:srgbClr val="F4F6F8"/>
          </a:solidFill>
          <a:ln w="12700">
            <a:solidFill>
              <a:srgbClr val="F4F6F8"/>
            </a:solidFill>
            <a:prstDash val="solid"/>
          </a:ln>
        </p:spPr>
      </p:sp>
      <p:sp>
        <p:nvSpPr>
          <p:cNvPr id="20" name="Text 17"/>
          <p:cNvSpPr/>
          <p:nvPr/>
        </p:nvSpPr>
        <p:spPr>
          <a:xfrm>
            <a:off x="5980176" y="4059936"/>
            <a:ext cx="2743200" cy="228600"/>
          </a:xfrm>
          <a:prstGeom prst="rect">
            <a:avLst/>
          </a:prstGeom>
          <a:noFill/>
          <a:ln/>
        </p:spPr>
        <p:txBody>
          <a:bodyPr wrap="square" lIns="0" tIns="0" rIns="0" bIns="0" rtlCol="0" anchor="ctr"/>
          <a:lstStyle/>
          <a:p>
            <a:pPr marL="0" indent="0">
              <a:buNone/>
            </a:pPr>
            <a:r>
              <a:rPr lang="en-US" sz="1100" b="1" dirty="0">
                <a:solidFill>
                  <a:srgbClr val="4A4E69"/>
                </a:solidFill>
                <a:latin typeface="Calibri" pitchFamily="34" charset="0"/>
                <a:ea typeface="Calibri" pitchFamily="34" charset="-122"/>
                <a:cs typeface="Calibri" pitchFamily="34" charset="-120"/>
              </a:rPr>
              <a:t>Doyenne vs Conference</a:t>
            </a:r>
            <a:endParaRPr lang="en-US" sz="1100" dirty="0"/>
          </a:p>
        </p:txBody>
      </p:sp>
      <p:sp>
        <p:nvSpPr>
          <p:cNvPr id="21" name="Text 18"/>
          <p:cNvSpPr/>
          <p:nvPr/>
        </p:nvSpPr>
        <p:spPr>
          <a:xfrm>
            <a:off x="5980176" y="4297680"/>
            <a:ext cx="2788920" cy="585216"/>
          </a:xfrm>
          <a:prstGeom prst="rect">
            <a:avLst/>
          </a:prstGeom>
          <a:noFill/>
          <a:ln/>
        </p:spPr>
        <p:txBody>
          <a:bodyPr wrap="square" lIns="0" tIns="0" rIns="0" bIns="0" rtlCol="0" anchor="ctr"/>
          <a:lstStyle/>
          <a:p>
            <a:pPr marL="0" indent="0">
              <a:buNone/>
            </a:pPr>
            <a:r>
              <a:rPr lang="en-US" sz="950" dirty="0">
                <a:solidFill>
                  <a:srgbClr val="1B2A3B"/>
                </a:solidFill>
                <a:latin typeface="Calibri" pitchFamily="34" charset="0"/>
                <a:ea typeface="Calibri" pitchFamily="34" charset="-122"/>
                <a:cs typeface="Calibri" pitchFamily="34" charset="-120"/>
              </a:rPr>
              <a:t>Consistently smaller (−1.112)</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Slower growth (−0.051/week)</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Stronger deceleration (−0.0007/wk²)</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Model Results</a:t>
            </a:r>
            <a:endParaRPr lang="en-US" sz="2200" dirty="0"/>
          </a:p>
        </p:txBody>
      </p:sp>
      <p:sp>
        <p:nvSpPr>
          <p:cNvPr id="4" name="Text 2"/>
          <p:cNvSpPr/>
          <p:nvPr/>
        </p:nvSpPr>
        <p:spPr>
          <a:xfrm>
            <a:off x="365760" y="658368"/>
            <a:ext cx="8412480" cy="292608"/>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Fixed &amp; random effects — reference: Climate Scenario 1, Conference variety</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28600" y="914400"/>
          <a:ext cx="6035040" cy="3931914"/>
        </p:xfrm>
        <a:graphic>
          <a:graphicData uri="http://schemas.openxmlformats.org/drawingml/2006/table">
            <a:tbl>
              <a:tblPr/>
              <a:tblGrid>
                <a:gridCol w="1691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280851">
                <a:tc>
                  <a:txBody>
                    <a:bodyPr/>
                    <a:lstStyle/>
                    <a:p>
                      <a:pPr marL="0" indent="0">
                        <a:buNone/>
                      </a:pPr>
                      <a:r>
                        <a:rPr lang="en-US" sz="950" b="1" dirty="0">
                          <a:solidFill>
                            <a:srgbClr val="FFFFFF"/>
                          </a:solidFill>
                        </a:rPr>
                        <a:t>Effect</a:t>
                      </a:r>
                      <a:endParaRPr lang="en-US" sz="9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50" b="1" dirty="0">
                          <a:solidFill>
                            <a:srgbClr val="FFFFFF"/>
                          </a:solidFill>
                        </a:rPr>
                        <a:t>Est.</a:t>
                      </a:r>
                      <a:endParaRPr lang="en-US" sz="9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50" b="1" dirty="0">
                          <a:solidFill>
                            <a:srgbClr val="FFFFFF"/>
                          </a:solidFill>
                        </a:rPr>
                        <a:t>SE</a:t>
                      </a:r>
                      <a:endParaRPr lang="en-US" sz="9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50" b="1" dirty="0">
                          <a:solidFill>
                            <a:srgbClr val="FFFFFF"/>
                          </a:solidFill>
                        </a:rPr>
                        <a:t>p-value</a:t>
                      </a:r>
                      <a:endParaRPr lang="en-US" sz="9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buNone/>
                      </a:pPr>
                      <a:r>
                        <a:rPr lang="en-US" sz="950" b="1" dirty="0">
                          <a:solidFill>
                            <a:srgbClr val="FFFFFF"/>
                          </a:solidFill>
                        </a:rPr>
                        <a:t>Interpretation</a:t>
                      </a:r>
                      <a:endParaRPr lang="en-US" sz="9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280851">
                <a:tc gridSpan="5">
                  <a:txBody>
                    <a:bodyPr/>
                    <a:lstStyle/>
                    <a:p>
                      <a:pPr marL="0" indent="0">
                        <a:buNone/>
                      </a:pPr>
                      <a:r>
                        <a:rPr lang="en-US" sz="900" b="1" dirty="0">
                          <a:solidFill>
                            <a:srgbClr val="2D6A4F"/>
                          </a:solidFill>
                        </a:rPr>
                        <a:t>Time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7F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80851">
                <a:tc>
                  <a:txBody>
                    <a:bodyPr/>
                    <a:lstStyle/>
                    <a:p>
                      <a:pPr marL="0" indent="0">
                        <a:buNone/>
                      </a:pPr>
                      <a:r>
                        <a:rPr lang="en-US" sz="900" dirty="0">
                          <a:solidFill>
                            <a:srgbClr val="000000"/>
                          </a:solidFill>
                        </a:rPr>
                        <a:t>Week (linear growth)</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+0.299</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0.003</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&lt; 0.0001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Strong positive growth throughout study</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0851">
                <a:tc>
                  <a:txBody>
                    <a:bodyPr/>
                    <a:lstStyle/>
                    <a:p>
                      <a:pPr marL="0" indent="0">
                        <a:buNone/>
                      </a:pPr>
                      <a:r>
                        <a:rPr lang="en-US" sz="900" dirty="0">
                          <a:solidFill>
                            <a:srgbClr val="000000"/>
                          </a:solidFill>
                        </a:rPr>
                        <a:t>Week² (curvature)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0.0005</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Growth rate decelerates slightly over time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0851">
                <a:tc gridSpan="5">
                  <a:txBody>
                    <a:bodyPr/>
                    <a:lstStyle/>
                    <a:p>
                      <a:pPr marL="0" indent="0">
                        <a:buNone/>
                      </a:pPr>
                      <a:r>
                        <a:rPr lang="en-US" sz="900" b="1" dirty="0">
                          <a:solidFill>
                            <a:srgbClr val="2D6A4F"/>
                          </a:solidFill>
                        </a:rPr>
                        <a:t>Climate (vs. Scenario 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7F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80851">
                <a:tc>
                  <a:txBody>
                    <a:bodyPr/>
                    <a:lstStyle/>
                    <a:p>
                      <a:pPr marL="0" indent="0">
                        <a:buNone/>
                      </a:pPr>
                      <a:r>
                        <a:rPr lang="en-US" sz="900" b="1" dirty="0">
                          <a:solidFill>
                            <a:srgbClr val="000000"/>
                          </a:solidFill>
                        </a:rPr>
                        <a:t>Scenario 2 baseline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b="1" dirty="0">
                          <a:solidFill>
                            <a:srgbClr val="000000"/>
                          </a:solidFill>
                        </a:rPr>
                        <a:t>+0.651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b="1" dirty="0">
                          <a:solidFill>
                            <a:srgbClr val="000000"/>
                          </a:solidFill>
                        </a:rPr>
                        <a:t>0.051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b="1" dirty="0">
                          <a:solidFill>
                            <a:srgbClr val="000000"/>
                          </a:solidFill>
                        </a:rPr>
                        <a:t>&lt; 0.0001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buNone/>
                      </a:pPr>
                      <a:r>
                        <a:rPr lang="en-US" sz="900" b="1" dirty="0">
                          <a:solidFill>
                            <a:srgbClr val="000000"/>
                          </a:solidFill>
                        </a:rPr>
                        <a:t>Substantially larger pears (CO₂ removal)</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extLst>
                  <a:ext uri="{0D108BD9-81ED-4DB2-BD59-A6C34878D82A}">
                    <a16:rowId xmlns:a16="http://schemas.microsoft.com/office/drawing/2014/main" val="10005"/>
                  </a:ext>
                </a:extLst>
              </a:tr>
              <a:tr h="280851">
                <a:tc>
                  <a:txBody>
                    <a:bodyPr/>
                    <a:lstStyle/>
                    <a:p>
                      <a:pPr marL="0" indent="0">
                        <a:buNone/>
                      </a:pPr>
                      <a:r>
                        <a:rPr lang="en-US" sz="900" b="1" dirty="0">
                          <a:solidFill>
                            <a:srgbClr val="000000"/>
                          </a:solidFill>
                        </a:rPr>
                        <a:t>Scenario 2 × week</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b="1" dirty="0">
                          <a:solidFill>
                            <a:srgbClr val="000000"/>
                          </a:solidFill>
                        </a:rPr>
                        <a:t>+0.051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b="1" dirty="0">
                          <a:solidFill>
                            <a:srgbClr val="000000"/>
                          </a:solidFill>
                        </a:rPr>
                        <a:t>0.004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lgn="ctr">
                        <a:buNone/>
                      </a:pPr>
                      <a:r>
                        <a:rPr lang="en-US" sz="900" b="1" dirty="0">
                          <a:solidFill>
                            <a:srgbClr val="000000"/>
                          </a:solidFill>
                        </a:rPr>
                        <a:t>&lt; 0.0001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tc>
                  <a:txBody>
                    <a:bodyPr/>
                    <a:lstStyle/>
                    <a:p>
                      <a:pPr marL="0" indent="0">
                        <a:buNone/>
                      </a:pPr>
                      <a:r>
                        <a:rPr lang="en-US" sz="900" b="1" dirty="0">
                          <a:solidFill>
                            <a:srgbClr val="000000"/>
                          </a:solidFill>
                        </a:rPr>
                        <a:t>Faster growth rate than Scenario 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8F0"/>
                    </a:solidFill>
                  </a:tcPr>
                </a:tc>
                <a:extLst>
                  <a:ext uri="{0D108BD9-81ED-4DB2-BD59-A6C34878D82A}">
                    <a16:rowId xmlns:a16="http://schemas.microsoft.com/office/drawing/2014/main" val="10006"/>
                  </a:ext>
                </a:extLst>
              </a:tr>
              <a:tr h="280851">
                <a:tc>
                  <a:txBody>
                    <a:bodyPr/>
                    <a:lstStyle/>
                    <a:p>
                      <a:pPr marL="0" indent="0">
                        <a:buNone/>
                      </a:pPr>
                      <a:r>
                        <a:rPr lang="en-US" sz="900" dirty="0">
                          <a:solidFill>
                            <a:srgbClr val="000000"/>
                          </a:solidFill>
                        </a:rPr>
                        <a:t>Scenario 3 baseline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−0.096</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0.047</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0.044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Slightly lower baseline size vs S1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0851">
                <a:tc>
                  <a:txBody>
                    <a:bodyPr/>
                    <a:lstStyle/>
                    <a:p>
                      <a:pPr marL="0" indent="0">
                        <a:buNone/>
                      </a:pPr>
                      <a:r>
                        <a:rPr lang="en-US" sz="900" dirty="0">
                          <a:solidFill>
                            <a:srgbClr val="000000"/>
                          </a:solidFill>
                        </a:rPr>
                        <a:t>Scenario 3 × week</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0.885</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No difference in growth rate vs S1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80851">
                <a:tc>
                  <a:txBody>
                    <a:bodyPr/>
                    <a:lstStyle/>
                    <a:p>
                      <a:pPr marL="0" indent="0">
                        <a:buNone/>
                      </a:pPr>
                      <a:r>
                        <a:rPr lang="en-US" sz="900" dirty="0">
                          <a:solidFill>
                            <a:srgbClr val="000000"/>
                          </a:solidFill>
                        </a:rPr>
                        <a:t>Scenario 4 baseline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+0.185</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0.047</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0.0001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Moderately larger pears than S1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0851">
                <a:tc>
                  <a:txBody>
                    <a:bodyPr/>
                    <a:lstStyle/>
                    <a:p>
                      <a:pPr marL="0" indent="0">
                        <a:buNone/>
                      </a:pPr>
                      <a:r>
                        <a:rPr lang="en-US" sz="900" dirty="0">
                          <a:solidFill>
                            <a:srgbClr val="000000"/>
                          </a:solidFill>
                        </a:rPr>
                        <a:t>Scenario 4 × week</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+0.015</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0.0001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Modest growth-rate advantage over S1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80851">
                <a:tc gridSpan="5">
                  <a:txBody>
                    <a:bodyPr/>
                    <a:lstStyle/>
                    <a:p>
                      <a:pPr marL="0" indent="0">
                        <a:buNone/>
                      </a:pPr>
                      <a:r>
                        <a:rPr lang="en-US" sz="900" b="1" dirty="0">
                          <a:solidFill>
                            <a:srgbClr val="4A4E69"/>
                          </a:solidFill>
                        </a:rPr>
                        <a:t>Variety (vs. Conference)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0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r h="280851">
                <a:tc>
                  <a:txBody>
                    <a:bodyPr/>
                    <a:lstStyle/>
                    <a:p>
                      <a:pPr marL="0" indent="0">
                        <a:buNone/>
                      </a:pPr>
                      <a:r>
                        <a:rPr lang="en-US" sz="900" dirty="0">
                          <a:solidFill>
                            <a:srgbClr val="000000"/>
                          </a:solidFill>
                        </a:rPr>
                        <a:t>Variety Doyenne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tc>
                  <a:txBody>
                    <a:bodyPr/>
                    <a:lstStyle/>
                    <a:p>
                      <a:pPr marL="0" indent="0" algn="ctr">
                        <a:buNone/>
                      </a:pPr>
                      <a:r>
                        <a:rPr lang="en-US" sz="900" dirty="0">
                          <a:solidFill>
                            <a:srgbClr val="000000"/>
                          </a:solidFill>
                        </a:rPr>
                        <a:t>−1.112</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tc>
                  <a:txBody>
                    <a:bodyPr/>
                    <a:lstStyle/>
                    <a:p>
                      <a:pPr marL="0" indent="0" algn="ctr">
                        <a:buNone/>
                      </a:pPr>
                      <a:r>
                        <a:rPr lang="en-US" sz="900" dirty="0">
                          <a:solidFill>
                            <a:srgbClr val="000000"/>
                          </a:solidFill>
                        </a:rPr>
                        <a:t>0.035</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tc>
                  <a:txBody>
                    <a:bodyPr/>
                    <a:lstStyle/>
                    <a:p>
                      <a:pPr marL="0" indent="0" algn="ctr">
                        <a:buNone/>
                      </a:pPr>
                      <a:r>
                        <a:rPr lang="en-US" sz="900" dirty="0">
                          <a:solidFill>
                            <a:srgbClr val="000000"/>
                          </a:solidFill>
                        </a:rPr>
                        <a:t>&lt; 0.0001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tc>
                  <a:txBody>
                    <a:bodyPr/>
                    <a:lstStyle/>
                    <a:p>
                      <a:pPr marL="0" indent="0">
                        <a:buNone/>
                      </a:pPr>
                      <a:r>
                        <a:rPr lang="en-US" sz="900" dirty="0">
                          <a:solidFill>
                            <a:srgbClr val="000000"/>
                          </a:solidFill>
                        </a:rPr>
                        <a:t>Much smaller than Conference at baseline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extLst>
                  <a:ext uri="{0D108BD9-81ED-4DB2-BD59-A6C34878D82A}">
                    <a16:rowId xmlns:a16="http://schemas.microsoft.com/office/drawing/2014/main" val="10012"/>
                  </a:ext>
                </a:extLst>
              </a:tr>
              <a:tr h="280851">
                <a:tc>
                  <a:txBody>
                    <a:bodyPr/>
                    <a:lstStyle/>
                    <a:p>
                      <a:pPr marL="0" indent="0">
                        <a:buNone/>
                      </a:pPr>
                      <a:r>
                        <a:rPr lang="en-US" sz="900" dirty="0">
                          <a:solidFill>
                            <a:srgbClr val="000000"/>
                          </a:solidFill>
                        </a:rPr>
                        <a:t>Doyenne × week</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tc>
                  <a:txBody>
                    <a:bodyPr/>
                    <a:lstStyle/>
                    <a:p>
                      <a:pPr marL="0" indent="0" algn="ctr">
                        <a:buNone/>
                      </a:pPr>
                      <a:r>
                        <a:rPr lang="en-US" sz="900" dirty="0">
                          <a:solidFill>
                            <a:srgbClr val="000000"/>
                          </a:solidFill>
                        </a:rPr>
                        <a:t>−0.051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tc>
                  <a:txBody>
                    <a:bodyPr/>
                    <a:lstStyle/>
                    <a:p>
                      <a:pPr marL="0" indent="0" algn="ctr">
                        <a:buNone/>
                      </a:pPr>
                      <a:r>
                        <a:rPr lang="en-US" sz="900" dirty="0">
                          <a:solidFill>
                            <a:srgbClr val="000000"/>
                          </a:solidFill>
                        </a:rPr>
                        <a:t>0.003</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tc>
                  <a:txBody>
                    <a:bodyPr/>
                    <a:lstStyle/>
                    <a:p>
                      <a:pPr marL="0" indent="0" algn="ctr">
                        <a:buNone/>
                      </a:pPr>
                      <a:r>
                        <a:rPr lang="en-US" sz="900" dirty="0">
                          <a:solidFill>
                            <a:srgbClr val="000000"/>
                          </a:solidFill>
                        </a:rPr>
                        <a:t>&lt; 0.0001</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tc>
                  <a:txBody>
                    <a:bodyPr/>
                    <a:lstStyle/>
                    <a:p>
                      <a:pPr marL="0" indent="0">
                        <a:buNone/>
                      </a:pPr>
                      <a:r>
                        <a:rPr lang="en-US" sz="900" dirty="0">
                          <a:solidFill>
                            <a:srgbClr val="000000"/>
                          </a:solidFill>
                        </a:rPr>
                        <a:t>Slower growth rate than Conference</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8F4FF"/>
                    </a:solidFill>
                  </a:tcPr>
                </a:tc>
                <a:extLst>
                  <a:ext uri="{0D108BD9-81ED-4DB2-BD59-A6C34878D82A}">
                    <a16:rowId xmlns:a16="http://schemas.microsoft.com/office/drawing/2014/main" val="10013"/>
                  </a:ext>
                </a:extLst>
              </a:tr>
            </a:tbl>
          </a:graphicData>
        </a:graphic>
      </p:graphicFrame>
      <p:sp>
        <p:nvSpPr>
          <p:cNvPr id="6" name="Text 3"/>
          <p:cNvSpPr/>
          <p:nvPr/>
        </p:nvSpPr>
        <p:spPr>
          <a:xfrm>
            <a:off x="6446520" y="914400"/>
            <a:ext cx="2468880" cy="292608"/>
          </a:xfrm>
          <a:prstGeom prst="rect">
            <a:avLst/>
          </a:prstGeom>
          <a:noFill/>
          <a:ln/>
        </p:spPr>
        <p:txBody>
          <a:bodyPr wrap="square" lIns="0" tIns="0" rIns="0" bIns="0"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Random Effects (Table 8)</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446520" y="1243584"/>
          <a:ext cx="2468880" cy="1097280"/>
        </p:xfrm>
        <a:graphic>
          <a:graphicData uri="http://schemas.openxmlformats.org/drawingml/2006/table">
            <a:tbl>
              <a:tblPr/>
              <a:tblGrid>
                <a:gridCol w="13716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tblGrid>
              <a:tr h="274320">
                <a:tc>
                  <a:txBody>
                    <a:bodyPr/>
                    <a:lstStyle/>
                    <a:p>
                      <a:pPr marL="0" indent="0">
                        <a:buNone/>
                      </a:pPr>
                      <a:r>
                        <a:rPr lang="en-US" sz="900" b="1" dirty="0">
                          <a:solidFill>
                            <a:srgbClr val="FFFFFF"/>
                          </a:solidFill>
                        </a:rPr>
                        <a:t>Component</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Var.</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lgn="ctr">
                        <a:buNone/>
                      </a:pPr>
                      <a:r>
                        <a:rPr lang="en-US" sz="900" b="1" dirty="0">
                          <a:solidFill>
                            <a:srgbClr val="FFFFFF"/>
                          </a:solidFill>
                        </a:rPr>
                        <a:t>SD</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000000"/>
                          </a:solidFill>
                        </a:rPr>
                        <a:t>Pear intercept (b₀)</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0.046</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0.214</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000000"/>
                          </a:solidFill>
                        </a:rPr>
                        <a:t>Pear slope (b₁)</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0.000</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0.016</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000000"/>
                          </a:solidFill>
                        </a:rPr>
                        <a:t>Residual (ε)</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0.052</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rPr>
                        <a:t>0.227</a:t>
                      </a:r>
                      <a:endParaRPr lang="en-US" sz="9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hape 4"/>
          <p:cNvSpPr/>
          <p:nvPr/>
        </p:nvSpPr>
        <p:spPr>
          <a:xfrm>
            <a:off x="6446520" y="2377440"/>
            <a:ext cx="2468880" cy="594360"/>
          </a:xfrm>
          <a:prstGeom prst="rect">
            <a:avLst/>
          </a:prstGeom>
          <a:solidFill>
            <a:srgbClr val="D8F3DC"/>
          </a:solidFill>
          <a:ln w="12700">
            <a:solidFill>
              <a:srgbClr val="52B788"/>
            </a:solidFill>
            <a:prstDash val="solid"/>
          </a:ln>
        </p:spPr>
      </p:sp>
      <p:sp>
        <p:nvSpPr>
          <p:cNvPr id="9" name="Text 5"/>
          <p:cNvSpPr/>
          <p:nvPr/>
        </p:nvSpPr>
        <p:spPr>
          <a:xfrm>
            <a:off x="6537960" y="2423160"/>
            <a:ext cx="2286000" cy="256032"/>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Corr(b₀, b₁) = 0.70</a:t>
            </a:r>
            <a:endParaRPr lang="en-US" sz="1100" dirty="0"/>
          </a:p>
        </p:txBody>
      </p:sp>
      <p:sp>
        <p:nvSpPr>
          <p:cNvPr id="10" name="Text 6"/>
          <p:cNvSpPr/>
          <p:nvPr/>
        </p:nvSpPr>
        <p:spPr>
          <a:xfrm>
            <a:off x="6537960" y="2679192"/>
            <a:ext cx="2286000" cy="274320"/>
          </a:xfrm>
          <a:prstGeom prst="rect">
            <a:avLst/>
          </a:prstGeom>
          <a:noFill/>
          <a:ln/>
        </p:spPr>
        <p:txBody>
          <a:bodyPr wrap="square" lIns="0" tIns="0" rIns="0" bIns="0" rtlCol="0" anchor="ctr"/>
          <a:lstStyle/>
          <a:p>
            <a:pPr marL="0" indent="0">
              <a:buNone/>
            </a:pPr>
            <a:r>
              <a:rPr lang="en-US" sz="950" dirty="0">
                <a:solidFill>
                  <a:srgbClr val="1B2A3B"/>
                </a:solidFill>
                <a:latin typeface="Calibri" pitchFamily="34" charset="0"/>
                <a:ea typeface="Calibri" pitchFamily="34" charset="-122"/>
                <a:cs typeface="Calibri" pitchFamily="34" charset="-120"/>
              </a:rPr>
              <a:t>Pears larger at baseline</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tend to grow faster</a:t>
            </a:r>
            <a:endParaRPr lang="en-US" sz="950" dirty="0"/>
          </a:p>
        </p:txBody>
      </p:sp>
      <p:sp>
        <p:nvSpPr>
          <p:cNvPr id="11" name="Shape 7"/>
          <p:cNvSpPr/>
          <p:nvPr/>
        </p:nvSpPr>
        <p:spPr>
          <a:xfrm>
            <a:off x="6446520" y="3017520"/>
            <a:ext cx="2468880" cy="777240"/>
          </a:xfrm>
          <a:prstGeom prst="rect">
            <a:avLst/>
          </a:prstGeom>
          <a:solidFill>
            <a:srgbClr val="F4F6F8"/>
          </a:solidFill>
          <a:ln w="12700">
            <a:solidFill>
              <a:srgbClr val="F4F6F8"/>
            </a:solidFill>
            <a:prstDash val="solid"/>
          </a:ln>
        </p:spPr>
      </p:sp>
      <p:sp>
        <p:nvSpPr>
          <p:cNvPr id="12" name="Text 8"/>
          <p:cNvSpPr/>
          <p:nvPr/>
        </p:nvSpPr>
        <p:spPr>
          <a:xfrm>
            <a:off x="6537960" y="3063240"/>
            <a:ext cx="2286000" cy="256032"/>
          </a:xfrm>
          <a:prstGeom prst="rect">
            <a:avLst/>
          </a:prstGeom>
          <a:noFill/>
          <a:ln/>
        </p:spPr>
        <p:txBody>
          <a:bodyPr wrap="square" lIns="0" tIns="0" rIns="0" bIns="0"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ICC ≈ 0.47</a:t>
            </a:r>
            <a:endParaRPr lang="en-US" sz="1200" dirty="0"/>
          </a:p>
        </p:txBody>
      </p:sp>
      <p:sp>
        <p:nvSpPr>
          <p:cNvPr id="5" name="Text 9"/>
          <p:cNvSpPr/>
          <p:nvPr/>
        </p:nvSpPr>
        <p:spPr>
          <a:xfrm>
            <a:off x="6537960" y="3319272"/>
            <a:ext cx="2286000" cy="457200"/>
          </a:xfrm>
          <a:prstGeom prst="rect">
            <a:avLst/>
          </a:prstGeom>
          <a:noFill/>
          <a:ln/>
        </p:spPr>
        <p:txBody>
          <a:bodyPr wrap="square" lIns="0" tIns="0" rIns="0" bIns="0" rtlCol="0" anchor="ctr"/>
          <a:lstStyle/>
          <a:p>
            <a:pPr marL="0" indent="0">
              <a:buNone/>
            </a:pPr>
            <a:r>
              <a:rPr lang="en-US" sz="950" dirty="0">
                <a:solidFill>
                  <a:srgbClr val="1B2A3B"/>
                </a:solidFill>
                <a:latin typeface="Calibri" pitchFamily="34" charset="0"/>
                <a:ea typeface="Calibri" pitchFamily="34" charset="-122"/>
                <a:cs typeface="Calibri" pitchFamily="34" charset="-120"/>
              </a:rPr>
              <a:t>47% of total variability is</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between-pear (stable)</a:t>
            </a:r>
            <a:endParaRPr lang="en-US" sz="950" dirty="0"/>
          </a:p>
          <a:p>
            <a:pPr marL="0" indent="0">
              <a:buNone/>
            </a:pPr>
            <a:r>
              <a:rPr lang="en-US" sz="950" dirty="0">
                <a:solidFill>
                  <a:srgbClr val="1B2A3B"/>
                </a:solidFill>
                <a:latin typeface="Calibri" pitchFamily="34" charset="0"/>
                <a:ea typeface="Calibri" pitchFamily="34" charset="-122"/>
                <a:cs typeface="Calibri" pitchFamily="34" charset="-120"/>
              </a:rPr>
              <a:t>differences in size</a:t>
            </a:r>
            <a:endParaRPr lang="en-US" sz="950" dirty="0"/>
          </a:p>
        </p:txBody>
      </p:sp>
      <p:sp>
        <p:nvSpPr>
          <p:cNvPr id="14" name="Text 10"/>
          <p:cNvSpPr/>
          <p:nvPr/>
        </p:nvSpPr>
        <p:spPr>
          <a:xfrm>
            <a:off x="228600" y="4800600"/>
            <a:ext cx="86868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Reference category: Climate Scenario 1 (no intervention), Conference variety, at centered week = 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Limitations &amp; Future Work</a:t>
            </a:r>
            <a:endParaRPr lang="en-US" sz="2200" dirty="0"/>
          </a:p>
        </p:txBody>
      </p:sp>
      <p:sp>
        <p:nvSpPr>
          <p:cNvPr id="4" name="Text 2"/>
          <p:cNvSpPr/>
          <p:nvPr/>
        </p:nvSpPr>
        <p:spPr>
          <a:xfrm>
            <a:off x="365760" y="658368"/>
            <a:ext cx="8412480" cy="292608"/>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Honest appraisal and next steps</a:t>
            </a:r>
            <a:endParaRPr lang="en-US" sz="1100" dirty="0"/>
          </a:p>
        </p:txBody>
      </p:sp>
      <p:pic>
        <p:nvPicPr>
          <p:cNvPr id="5" name="Image 0" descr="preencoded.png"/>
          <p:cNvPicPr>
            <a:picLocks noChangeAspect="1"/>
          </p:cNvPicPr>
          <p:nvPr/>
        </p:nvPicPr>
        <p:blipFill>
          <a:blip r:embed="rId3"/>
          <a:stretch>
            <a:fillRect/>
          </a:stretch>
        </p:blipFill>
        <p:spPr>
          <a:xfrm>
            <a:off x="365760" y="1005840"/>
            <a:ext cx="411480" cy="411480"/>
          </a:xfrm>
          <a:prstGeom prst="rect">
            <a:avLst/>
          </a:prstGeom>
        </p:spPr>
      </p:pic>
      <p:sp>
        <p:nvSpPr>
          <p:cNvPr id="6" name="Text 3"/>
          <p:cNvSpPr/>
          <p:nvPr/>
        </p:nvSpPr>
        <p:spPr>
          <a:xfrm>
            <a:off x="868680" y="1024128"/>
            <a:ext cx="3657600" cy="365760"/>
          </a:xfrm>
          <a:prstGeom prst="rect">
            <a:avLst/>
          </a:prstGeom>
          <a:noFill/>
          <a:ln/>
        </p:spPr>
        <p:txBody>
          <a:bodyPr wrap="square" lIns="0" tIns="0" rIns="0" bIns="0" rtlCol="0" anchor="ctr"/>
          <a:lstStyle/>
          <a:p>
            <a:pPr marL="0" indent="0">
              <a:buNone/>
            </a:pPr>
            <a:r>
              <a:rPr lang="en-US" sz="1600" b="1" dirty="0">
                <a:solidFill>
                  <a:srgbClr val="E76F51"/>
                </a:solidFill>
                <a:latin typeface="Calibri" pitchFamily="34" charset="0"/>
                <a:ea typeface="Calibri" pitchFamily="34" charset="-122"/>
                <a:cs typeface="Calibri" pitchFamily="34" charset="-120"/>
              </a:rPr>
              <a:t>Limitations</a:t>
            </a:r>
            <a:endParaRPr lang="en-US" sz="1600" dirty="0"/>
          </a:p>
        </p:txBody>
      </p:sp>
      <p:sp>
        <p:nvSpPr>
          <p:cNvPr id="7" name="Shape 4"/>
          <p:cNvSpPr/>
          <p:nvPr/>
        </p:nvSpPr>
        <p:spPr>
          <a:xfrm>
            <a:off x="365760" y="1508760"/>
            <a:ext cx="4114800" cy="960120"/>
          </a:xfrm>
          <a:prstGeom prst="rect">
            <a:avLst/>
          </a:prstGeom>
          <a:solidFill>
            <a:srgbClr val="FFF5F2"/>
          </a:solidFill>
          <a:ln w="12700">
            <a:solidFill>
              <a:srgbClr val="FED2C5"/>
            </a:solidFill>
            <a:prstDash val="solid"/>
          </a:ln>
        </p:spPr>
      </p:sp>
      <p:sp>
        <p:nvSpPr>
          <p:cNvPr id="8" name="Text 5"/>
          <p:cNvSpPr/>
          <p:nvPr/>
        </p:nvSpPr>
        <p:spPr>
          <a:xfrm>
            <a:off x="502920" y="1554480"/>
            <a:ext cx="3840480" cy="256032"/>
          </a:xfrm>
          <a:prstGeom prst="rect">
            <a:avLst/>
          </a:prstGeom>
          <a:noFill/>
          <a:ln/>
        </p:spPr>
        <p:txBody>
          <a:bodyPr wrap="square" lIns="0" tIns="0" rIns="0" bIns="0" rtlCol="0" anchor="ctr"/>
          <a:lstStyle/>
          <a:p>
            <a:pPr marL="0" indent="0">
              <a:buNone/>
            </a:pPr>
            <a:r>
              <a:rPr lang="en-US" sz="1100" b="1" dirty="0">
                <a:solidFill>
                  <a:srgbClr val="E76F51"/>
                </a:solidFill>
                <a:latin typeface="Calibri" pitchFamily="34" charset="0"/>
                <a:ea typeface="Calibri" pitchFamily="34" charset="-122"/>
                <a:cs typeface="Calibri" pitchFamily="34" charset="-120"/>
              </a:rPr>
              <a:t>Small ecotron &amp; tree sample sizes</a:t>
            </a:r>
            <a:endParaRPr lang="en-US" sz="1100" dirty="0"/>
          </a:p>
        </p:txBody>
      </p:sp>
      <p:sp>
        <p:nvSpPr>
          <p:cNvPr id="9" name="Text 6"/>
          <p:cNvSpPr/>
          <p:nvPr/>
        </p:nvSpPr>
        <p:spPr>
          <a:xfrm>
            <a:off x="502920" y="1810512"/>
            <a:ext cx="3840480" cy="621792"/>
          </a:xfrm>
          <a:prstGeom prst="rect">
            <a:avLst/>
          </a:prstGeom>
          <a:noFill/>
          <a:ln/>
        </p:spPr>
        <p:txBody>
          <a:bodyPr wrap="square" rtlCol="0" anchor="ctr"/>
          <a:lstStyle/>
          <a:p>
            <a:pPr marL="0" indent="0">
              <a:buNone/>
            </a:pPr>
            <a:r>
              <a:rPr lang="en-US" sz="1000" dirty="0">
                <a:solidFill>
                  <a:srgbClr val="1B2A3B"/>
                </a:solidFill>
                <a:latin typeface="Calibri" pitchFamily="34" charset="0"/>
                <a:ea typeface="Calibri" pitchFamily="34" charset="-122"/>
                <a:cs typeface="Calibri" pitchFamily="34" charset="-120"/>
              </a:rPr>
              <a:t>Only 4 ecotrons shown in the data structure (2 trees each), with 16–27 observations per tree. Insufficient replication to reliably estimate tree- and ecotron-level variance components.</a:t>
            </a:r>
            <a:endParaRPr lang="en-US" sz="1000" dirty="0"/>
          </a:p>
        </p:txBody>
      </p:sp>
      <p:sp>
        <p:nvSpPr>
          <p:cNvPr id="10" name="Shape 7"/>
          <p:cNvSpPr/>
          <p:nvPr/>
        </p:nvSpPr>
        <p:spPr>
          <a:xfrm>
            <a:off x="365760" y="2606040"/>
            <a:ext cx="4114800" cy="960120"/>
          </a:xfrm>
          <a:prstGeom prst="rect">
            <a:avLst/>
          </a:prstGeom>
          <a:solidFill>
            <a:srgbClr val="FFF5F2"/>
          </a:solidFill>
          <a:ln w="12700">
            <a:solidFill>
              <a:srgbClr val="FED2C5"/>
            </a:solidFill>
            <a:prstDash val="solid"/>
          </a:ln>
        </p:spPr>
      </p:sp>
      <p:sp>
        <p:nvSpPr>
          <p:cNvPr id="11" name="Text 8"/>
          <p:cNvSpPr/>
          <p:nvPr/>
        </p:nvSpPr>
        <p:spPr>
          <a:xfrm>
            <a:off x="502920" y="2651760"/>
            <a:ext cx="3840480" cy="256032"/>
          </a:xfrm>
          <a:prstGeom prst="rect">
            <a:avLst/>
          </a:prstGeom>
          <a:noFill/>
          <a:ln/>
        </p:spPr>
        <p:txBody>
          <a:bodyPr wrap="square" lIns="0" tIns="0" rIns="0" bIns="0" rtlCol="0" anchor="ctr"/>
          <a:lstStyle/>
          <a:p>
            <a:pPr marL="0" indent="0">
              <a:buNone/>
            </a:pPr>
            <a:r>
              <a:rPr lang="en-US" sz="1100" b="1" dirty="0">
                <a:solidFill>
                  <a:srgbClr val="E76F51"/>
                </a:solidFill>
                <a:latin typeface="Calibri" pitchFamily="34" charset="0"/>
                <a:ea typeface="Calibri" pitchFamily="34" charset="-122"/>
                <a:cs typeface="Calibri" pitchFamily="34" charset="-120"/>
              </a:rPr>
              <a:t>Climate effect applied at ecotron level</a:t>
            </a:r>
            <a:endParaRPr lang="en-US" sz="1100" dirty="0"/>
          </a:p>
        </p:txBody>
      </p:sp>
      <p:sp>
        <p:nvSpPr>
          <p:cNvPr id="12" name="Text 9"/>
          <p:cNvSpPr/>
          <p:nvPr/>
        </p:nvSpPr>
        <p:spPr>
          <a:xfrm>
            <a:off x="502920" y="2907792"/>
            <a:ext cx="3840480" cy="621792"/>
          </a:xfrm>
          <a:prstGeom prst="rect">
            <a:avLst/>
          </a:prstGeom>
          <a:noFill/>
          <a:ln/>
        </p:spPr>
        <p:txBody>
          <a:bodyPr wrap="square" rtlCol="0" anchor="ctr"/>
          <a:lstStyle/>
          <a:p>
            <a:pPr marL="0" indent="0">
              <a:buNone/>
            </a:pPr>
            <a:r>
              <a:rPr lang="en-US" sz="1000" dirty="0">
                <a:solidFill>
                  <a:srgbClr val="1B2A3B"/>
                </a:solidFill>
                <a:latin typeface="Calibri" pitchFamily="34" charset="0"/>
                <a:ea typeface="Calibri" pitchFamily="34" charset="-122"/>
                <a:cs typeface="Calibri" pitchFamily="34" charset="-120"/>
              </a:rPr>
              <a:t>Climate scenario is assigned at the ecotron level. To properly isolate the climate effect, random effects at the ecotron level are required — but the small number of ecotrons limits reliable estimation of this variance component.</a:t>
            </a:r>
            <a:endParaRPr lang="en-US" sz="1000" dirty="0"/>
          </a:p>
        </p:txBody>
      </p:sp>
      <p:sp>
        <p:nvSpPr>
          <p:cNvPr id="13" name="Shape 10"/>
          <p:cNvSpPr/>
          <p:nvPr/>
        </p:nvSpPr>
        <p:spPr>
          <a:xfrm>
            <a:off x="365760" y="3703320"/>
            <a:ext cx="4114800" cy="960120"/>
          </a:xfrm>
          <a:prstGeom prst="rect">
            <a:avLst/>
          </a:prstGeom>
          <a:solidFill>
            <a:srgbClr val="FFF5F2"/>
          </a:solidFill>
          <a:ln w="12700">
            <a:solidFill>
              <a:srgbClr val="FED2C5"/>
            </a:solidFill>
            <a:prstDash val="solid"/>
          </a:ln>
        </p:spPr>
      </p:sp>
      <p:sp>
        <p:nvSpPr>
          <p:cNvPr id="14" name="Text 11"/>
          <p:cNvSpPr/>
          <p:nvPr/>
        </p:nvSpPr>
        <p:spPr>
          <a:xfrm>
            <a:off x="502920" y="3749040"/>
            <a:ext cx="3840480" cy="256032"/>
          </a:xfrm>
          <a:prstGeom prst="rect">
            <a:avLst/>
          </a:prstGeom>
          <a:noFill/>
          <a:ln/>
        </p:spPr>
        <p:txBody>
          <a:bodyPr wrap="square" lIns="0" tIns="0" rIns="0" bIns="0" rtlCol="0" anchor="ctr"/>
          <a:lstStyle/>
          <a:p>
            <a:pPr marL="0" indent="0">
              <a:buNone/>
            </a:pPr>
            <a:r>
              <a:rPr lang="en-US" sz="1100" b="1" dirty="0">
                <a:solidFill>
                  <a:srgbClr val="E76F51"/>
                </a:solidFill>
                <a:latin typeface="Calibri" pitchFamily="34" charset="0"/>
                <a:ea typeface="Calibri" pitchFamily="34" charset="-122"/>
                <a:cs typeface="Calibri" pitchFamily="34" charset="-120"/>
              </a:rPr>
              <a:t>No location blocking in growth data</a:t>
            </a:r>
            <a:endParaRPr lang="en-US" sz="1100" dirty="0"/>
          </a:p>
        </p:txBody>
      </p:sp>
      <p:sp>
        <p:nvSpPr>
          <p:cNvPr id="15" name="Text 12"/>
          <p:cNvSpPr/>
          <p:nvPr/>
        </p:nvSpPr>
        <p:spPr>
          <a:xfrm>
            <a:off x="502920" y="4005072"/>
            <a:ext cx="3840480" cy="621792"/>
          </a:xfrm>
          <a:prstGeom prst="rect">
            <a:avLst/>
          </a:prstGeom>
          <a:noFill/>
          <a:ln/>
        </p:spPr>
        <p:txBody>
          <a:bodyPr wrap="square" rtlCol="0" anchor="ctr"/>
          <a:lstStyle/>
          <a:p>
            <a:pPr marL="0" indent="0">
              <a:buNone/>
            </a:pPr>
            <a:r>
              <a:rPr lang="en-US" sz="1000" dirty="0">
                <a:solidFill>
                  <a:srgbClr val="1B2A3B"/>
                </a:solidFill>
                <a:latin typeface="Calibri" pitchFamily="34" charset="0"/>
                <a:ea typeface="Calibri" pitchFamily="34" charset="-122"/>
                <a:cs typeface="Calibri" pitchFamily="34" charset="-120"/>
              </a:rPr>
              <a:t>All ecotrons for the growth sub-study were in Belgium only — no location factor available to block country-level variation in this analysis.</a:t>
            </a:r>
            <a:endParaRPr lang="en-US" sz="1000" dirty="0"/>
          </a:p>
        </p:txBody>
      </p:sp>
      <p:sp>
        <p:nvSpPr>
          <p:cNvPr id="16" name="Shape 13"/>
          <p:cNvSpPr/>
          <p:nvPr/>
        </p:nvSpPr>
        <p:spPr>
          <a:xfrm>
            <a:off x="4617720" y="960120"/>
            <a:ext cx="36576" cy="3840480"/>
          </a:xfrm>
          <a:prstGeom prst="rect">
            <a:avLst/>
          </a:prstGeom>
          <a:solidFill>
            <a:srgbClr val="52B788"/>
          </a:solidFill>
          <a:ln w="12700">
            <a:solidFill>
              <a:srgbClr val="52B788"/>
            </a:solidFill>
            <a:prstDash val="solid"/>
          </a:ln>
        </p:spPr>
      </p:sp>
      <p:pic>
        <p:nvPicPr>
          <p:cNvPr id="17" name="Image 1" descr="preencoded.png"/>
          <p:cNvPicPr>
            <a:picLocks noChangeAspect="1"/>
          </p:cNvPicPr>
          <p:nvPr/>
        </p:nvPicPr>
        <p:blipFill>
          <a:blip r:embed="rId4"/>
          <a:stretch>
            <a:fillRect/>
          </a:stretch>
        </p:blipFill>
        <p:spPr>
          <a:xfrm>
            <a:off x="4800600" y="1005840"/>
            <a:ext cx="411480" cy="411480"/>
          </a:xfrm>
          <a:prstGeom prst="rect">
            <a:avLst/>
          </a:prstGeom>
        </p:spPr>
      </p:pic>
      <p:sp>
        <p:nvSpPr>
          <p:cNvPr id="18" name="Text 14"/>
          <p:cNvSpPr/>
          <p:nvPr/>
        </p:nvSpPr>
        <p:spPr>
          <a:xfrm>
            <a:off x="5303520" y="1024128"/>
            <a:ext cx="3474720" cy="365760"/>
          </a:xfrm>
          <a:prstGeom prst="rect">
            <a:avLst/>
          </a:prstGeom>
          <a:noFill/>
          <a:ln/>
        </p:spPr>
        <p:txBody>
          <a:bodyPr wrap="square" lIns="0" tIns="0" rIns="0" bIns="0" rtlCol="0" anchor="ctr"/>
          <a:lstStyle/>
          <a:p>
            <a:pPr marL="0" indent="0">
              <a:buNone/>
            </a:pPr>
            <a:r>
              <a:rPr lang="en-US" sz="1600" b="1" dirty="0">
                <a:solidFill>
                  <a:srgbClr val="1B4332"/>
                </a:solidFill>
                <a:latin typeface="Calibri" pitchFamily="34" charset="0"/>
                <a:ea typeface="Calibri" pitchFamily="34" charset="-122"/>
                <a:cs typeface="Calibri" pitchFamily="34" charset="-120"/>
              </a:rPr>
              <a:t>Future Work</a:t>
            </a:r>
            <a:endParaRPr lang="en-US" sz="1600" dirty="0"/>
          </a:p>
        </p:txBody>
      </p:sp>
      <p:sp>
        <p:nvSpPr>
          <p:cNvPr id="19" name="Shape 15"/>
          <p:cNvSpPr/>
          <p:nvPr/>
        </p:nvSpPr>
        <p:spPr>
          <a:xfrm>
            <a:off x="4800600" y="1508760"/>
            <a:ext cx="4023360" cy="822960"/>
          </a:xfrm>
          <a:prstGeom prst="rect">
            <a:avLst/>
          </a:prstGeom>
          <a:solidFill>
            <a:srgbClr val="F4F6F8"/>
          </a:solidFill>
          <a:ln w="12700">
            <a:solidFill>
              <a:srgbClr val="F4F6F8"/>
            </a:solidFill>
            <a:prstDash val="solid"/>
          </a:ln>
        </p:spPr>
      </p:sp>
      <p:sp>
        <p:nvSpPr>
          <p:cNvPr id="20" name="Shape 16"/>
          <p:cNvSpPr/>
          <p:nvPr/>
        </p:nvSpPr>
        <p:spPr>
          <a:xfrm>
            <a:off x="4800600" y="1508760"/>
            <a:ext cx="82296" cy="822960"/>
          </a:xfrm>
          <a:prstGeom prst="rect">
            <a:avLst/>
          </a:prstGeom>
          <a:solidFill>
            <a:srgbClr val="52B788"/>
          </a:solidFill>
          <a:ln w="12700">
            <a:solidFill>
              <a:srgbClr val="52B788"/>
            </a:solidFill>
            <a:prstDash val="solid"/>
          </a:ln>
        </p:spPr>
      </p:sp>
      <p:sp>
        <p:nvSpPr>
          <p:cNvPr id="21" name="Text 17"/>
          <p:cNvSpPr/>
          <p:nvPr/>
        </p:nvSpPr>
        <p:spPr>
          <a:xfrm>
            <a:off x="4956048" y="1554480"/>
            <a:ext cx="3749040" cy="22860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Larger ecotron &amp; tree samples</a:t>
            </a:r>
            <a:endParaRPr lang="en-US" sz="1100" dirty="0"/>
          </a:p>
        </p:txBody>
      </p:sp>
      <p:sp>
        <p:nvSpPr>
          <p:cNvPr id="22" name="Text 18"/>
          <p:cNvSpPr/>
          <p:nvPr/>
        </p:nvSpPr>
        <p:spPr>
          <a:xfrm>
            <a:off x="4956048" y="1801368"/>
            <a:ext cx="3749040" cy="502920"/>
          </a:xfrm>
          <a:prstGeom prst="rect">
            <a:avLst/>
          </a:prstGeom>
          <a:noFill/>
          <a:ln/>
        </p:spPr>
        <p:txBody>
          <a:bodyPr wrap="square" rtlCol="0" anchor="ctr"/>
          <a:lstStyle/>
          <a:p>
            <a:pPr marL="0" indent="0">
              <a:buNone/>
            </a:pPr>
            <a:r>
              <a:rPr lang="en-US" sz="1000" dirty="0">
                <a:solidFill>
                  <a:srgbClr val="1B2A3B"/>
                </a:solidFill>
                <a:latin typeface="Calibri" pitchFamily="34" charset="0"/>
                <a:ea typeface="Calibri" pitchFamily="34" charset="-122"/>
                <a:cs typeface="Calibri" pitchFamily="34" charset="-120"/>
              </a:rPr>
              <a:t>Increase replications per scenario to enable reliable estimation of ecotron- and tree-level variance components.</a:t>
            </a:r>
            <a:endParaRPr lang="en-US" sz="1000" dirty="0"/>
          </a:p>
        </p:txBody>
      </p:sp>
      <p:sp>
        <p:nvSpPr>
          <p:cNvPr id="23" name="Shape 19"/>
          <p:cNvSpPr/>
          <p:nvPr/>
        </p:nvSpPr>
        <p:spPr>
          <a:xfrm>
            <a:off x="4800600" y="2423160"/>
            <a:ext cx="4023360" cy="822960"/>
          </a:xfrm>
          <a:prstGeom prst="rect">
            <a:avLst/>
          </a:prstGeom>
          <a:solidFill>
            <a:srgbClr val="F4F6F8"/>
          </a:solidFill>
          <a:ln w="12700">
            <a:solidFill>
              <a:srgbClr val="F4F6F8"/>
            </a:solidFill>
            <a:prstDash val="solid"/>
          </a:ln>
        </p:spPr>
      </p:sp>
      <p:sp>
        <p:nvSpPr>
          <p:cNvPr id="24" name="Shape 20"/>
          <p:cNvSpPr/>
          <p:nvPr/>
        </p:nvSpPr>
        <p:spPr>
          <a:xfrm>
            <a:off x="4800600" y="2423160"/>
            <a:ext cx="82296" cy="822960"/>
          </a:xfrm>
          <a:prstGeom prst="rect">
            <a:avLst/>
          </a:prstGeom>
          <a:solidFill>
            <a:srgbClr val="52B788"/>
          </a:solidFill>
          <a:ln w="12700">
            <a:solidFill>
              <a:srgbClr val="52B788"/>
            </a:solidFill>
            <a:prstDash val="solid"/>
          </a:ln>
        </p:spPr>
      </p:sp>
      <p:sp>
        <p:nvSpPr>
          <p:cNvPr id="25" name="Text 21"/>
          <p:cNvSpPr/>
          <p:nvPr/>
        </p:nvSpPr>
        <p:spPr>
          <a:xfrm>
            <a:off x="4956048" y="2468880"/>
            <a:ext cx="3749040" cy="22860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Formal pairwise contrasts</a:t>
            </a:r>
            <a:endParaRPr lang="en-US" sz="1100" dirty="0"/>
          </a:p>
        </p:txBody>
      </p:sp>
      <p:sp>
        <p:nvSpPr>
          <p:cNvPr id="26" name="Text 22"/>
          <p:cNvSpPr/>
          <p:nvPr/>
        </p:nvSpPr>
        <p:spPr>
          <a:xfrm>
            <a:off x="4956048" y="2715768"/>
            <a:ext cx="3749040" cy="502920"/>
          </a:xfrm>
          <a:prstGeom prst="rect">
            <a:avLst/>
          </a:prstGeom>
          <a:noFill/>
          <a:ln/>
        </p:spPr>
        <p:txBody>
          <a:bodyPr wrap="square" rtlCol="0" anchor="ctr"/>
          <a:lstStyle/>
          <a:p>
            <a:pPr marL="0" indent="0">
              <a:buNone/>
            </a:pPr>
            <a:r>
              <a:rPr lang="en-US" sz="1000" dirty="0">
                <a:solidFill>
                  <a:srgbClr val="1B2A3B"/>
                </a:solidFill>
                <a:latin typeface="Calibri" pitchFamily="34" charset="0"/>
                <a:ea typeface="Calibri" pitchFamily="34" charset="-122"/>
                <a:cs typeface="Calibri" pitchFamily="34" charset="-120"/>
              </a:rPr>
              <a:t>Use emmeans contrasts to directly compare growth trajectories between all scenario pairs, not just versus the reference.</a:t>
            </a:r>
            <a:endParaRPr lang="en-US" sz="1000" dirty="0"/>
          </a:p>
        </p:txBody>
      </p:sp>
      <p:sp>
        <p:nvSpPr>
          <p:cNvPr id="27" name="Shape 23"/>
          <p:cNvSpPr/>
          <p:nvPr/>
        </p:nvSpPr>
        <p:spPr>
          <a:xfrm>
            <a:off x="4800600" y="3337560"/>
            <a:ext cx="4023360" cy="822960"/>
          </a:xfrm>
          <a:prstGeom prst="rect">
            <a:avLst/>
          </a:prstGeom>
          <a:solidFill>
            <a:srgbClr val="F4F6F8"/>
          </a:solidFill>
          <a:ln w="12700">
            <a:solidFill>
              <a:srgbClr val="F4F6F8"/>
            </a:solidFill>
            <a:prstDash val="solid"/>
          </a:ln>
        </p:spPr>
      </p:sp>
      <p:sp>
        <p:nvSpPr>
          <p:cNvPr id="28" name="Shape 24"/>
          <p:cNvSpPr/>
          <p:nvPr/>
        </p:nvSpPr>
        <p:spPr>
          <a:xfrm>
            <a:off x="4800600" y="3337560"/>
            <a:ext cx="82296" cy="822960"/>
          </a:xfrm>
          <a:prstGeom prst="rect">
            <a:avLst/>
          </a:prstGeom>
          <a:solidFill>
            <a:srgbClr val="52B788"/>
          </a:solidFill>
          <a:ln w="12700">
            <a:solidFill>
              <a:srgbClr val="52B788"/>
            </a:solidFill>
            <a:prstDash val="solid"/>
          </a:ln>
        </p:spPr>
      </p:sp>
      <p:sp>
        <p:nvSpPr>
          <p:cNvPr id="29" name="Text 25"/>
          <p:cNvSpPr/>
          <p:nvPr/>
        </p:nvSpPr>
        <p:spPr>
          <a:xfrm>
            <a:off x="4956048" y="3383280"/>
            <a:ext cx="3749040" cy="22860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GEE as sensitivity analysis</a:t>
            </a:r>
            <a:endParaRPr lang="en-US" sz="1100" dirty="0"/>
          </a:p>
        </p:txBody>
      </p:sp>
      <p:sp>
        <p:nvSpPr>
          <p:cNvPr id="30" name="Text 26"/>
          <p:cNvSpPr/>
          <p:nvPr/>
        </p:nvSpPr>
        <p:spPr>
          <a:xfrm>
            <a:off x="4956048" y="3630168"/>
            <a:ext cx="3749040" cy="502920"/>
          </a:xfrm>
          <a:prstGeom prst="rect">
            <a:avLst/>
          </a:prstGeom>
          <a:noFill/>
          <a:ln/>
        </p:spPr>
        <p:txBody>
          <a:bodyPr wrap="square" rtlCol="0" anchor="ctr"/>
          <a:lstStyle/>
          <a:p>
            <a:pPr marL="0" indent="0">
              <a:buNone/>
            </a:pPr>
            <a:r>
              <a:rPr lang="en-US" sz="1000" dirty="0">
                <a:solidFill>
                  <a:srgbClr val="1B2A3B"/>
                </a:solidFill>
                <a:latin typeface="Calibri" pitchFamily="34" charset="0"/>
                <a:ea typeface="Calibri" pitchFamily="34" charset="-122"/>
                <a:cs typeface="Calibri" pitchFamily="34" charset="-120"/>
              </a:rPr>
              <a:t>Generalized Estimating Equations provide population-average estimates robust to random-effects misspecification — useful for confirming GLMM conclusions.</a:t>
            </a:r>
            <a:endParaRPr lang="en-US" sz="1000" dirty="0"/>
          </a:p>
        </p:txBody>
      </p:sp>
      <p:sp>
        <p:nvSpPr>
          <p:cNvPr id="31" name="Shape 27"/>
          <p:cNvSpPr/>
          <p:nvPr/>
        </p:nvSpPr>
        <p:spPr>
          <a:xfrm>
            <a:off x="4800600" y="4251960"/>
            <a:ext cx="4023360" cy="822960"/>
          </a:xfrm>
          <a:prstGeom prst="rect">
            <a:avLst/>
          </a:prstGeom>
          <a:solidFill>
            <a:srgbClr val="F4F6F8"/>
          </a:solidFill>
          <a:ln w="12700">
            <a:solidFill>
              <a:srgbClr val="F4F6F8"/>
            </a:solidFill>
            <a:prstDash val="solid"/>
          </a:ln>
        </p:spPr>
      </p:sp>
      <p:sp>
        <p:nvSpPr>
          <p:cNvPr id="32" name="Shape 28"/>
          <p:cNvSpPr/>
          <p:nvPr/>
        </p:nvSpPr>
        <p:spPr>
          <a:xfrm>
            <a:off x="4800600" y="4251960"/>
            <a:ext cx="82296" cy="822960"/>
          </a:xfrm>
          <a:prstGeom prst="rect">
            <a:avLst/>
          </a:prstGeom>
          <a:solidFill>
            <a:srgbClr val="52B788"/>
          </a:solidFill>
          <a:ln w="12700">
            <a:solidFill>
              <a:srgbClr val="52B788"/>
            </a:solidFill>
            <a:prstDash val="solid"/>
          </a:ln>
        </p:spPr>
      </p:sp>
      <p:sp>
        <p:nvSpPr>
          <p:cNvPr id="33" name="Text 29"/>
          <p:cNvSpPr/>
          <p:nvPr/>
        </p:nvSpPr>
        <p:spPr>
          <a:xfrm>
            <a:off x="4956048" y="4297680"/>
            <a:ext cx="3749040" cy="22860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Longitudinal soil measurements</a:t>
            </a:r>
            <a:endParaRPr lang="en-US" sz="1100" dirty="0"/>
          </a:p>
        </p:txBody>
      </p:sp>
      <p:sp>
        <p:nvSpPr>
          <p:cNvPr id="34" name="Text 30"/>
          <p:cNvSpPr/>
          <p:nvPr/>
        </p:nvSpPr>
        <p:spPr>
          <a:xfrm>
            <a:off x="4956048" y="4544568"/>
            <a:ext cx="3749040" cy="502920"/>
          </a:xfrm>
          <a:prstGeom prst="rect">
            <a:avLst/>
          </a:prstGeom>
          <a:noFill/>
          <a:ln/>
        </p:spPr>
        <p:txBody>
          <a:bodyPr wrap="square" rtlCol="0" anchor="ctr"/>
          <a:lstStyle/>
          <a:p>
            <a:pPr marL="0" indent="0">
              <a:buNone/>
            </a:pPr>
            <a:r>
              <a:rPr lang="en-US" sz="1000" dirty="0">
                <a:solidFill>
                  <a:srgbClr val="1B2A3B"/>
                </a:solidFill>
                <a:latin typeface="Calibri" pitchFamily="34" charset="0"/>
                <a:ea typeface="Calibri" pitchFamily="34" charset="-122"/>
                <a:cs typeface="Calibri" pitchFamily="34" charset="-120"/>
              </a:rPr>
              <a:t>Track soil properties over time to better disentangle direct climate effects from soil-mediated pathways.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457200" y="3474720"/>
            <a:ext cx="3200400" cy="3200400"/>
          </a:xfrm>
          <a:prstGeom prst="ellipse">
            <a:avLst/>
          </a:prstGeom>
          <a:solidFill>
            <a:srgbClr val="2D6A4F">
              <a:alpha val="60000"/>
            </a:srgbClr>
          </a:solidFill>
          <a:ln w="12700">
            <a:solidFill>
              <a:srgbClr val="2D6A4F">
                <a:alpha val="60000"/>
              </a:srgbClr>
            </a:solidFill>
            <a:prstDash val="solid"/>
          </a:ln>
        </p:spPr>
      </p:sp>
      <p:sp>
        <p:nvSpPr>
          <p:cNvPr id="3" name="Shape 1"/>
          <p:cNvSpPr/>
          <p:nvPr/>
        </p:nvSpPr>
        <p:spPr>
          <a:xfrm>
            <a:off x="8046720" y="-457200"/>
            <a:ext cx="1828800" cy="1828800"/>
          </a:xfrm>
          <a:prstGeom prst="ellipse">
            <a:avLst/>
          </a:prstGeom>
          <a:solidFill>
            <a:srgbClr val="52B788">
              <a:alpha val="45000"/>
            </a:srgbClr>
          </a:solidFill>
          <a:ln w="12700">
            <a:solidFill>
              <a:srgbClr val="52B788">
                <a:alpha val="45000"/>
              </a:srgbClr>
            </a:solidFill>
            <a:prstDash val="solid"/>
          </a:ln>
        </p:spPr>
      </p:sp>
      <p:pic>
        <p:nvPicPr>
          <p:cNvPr id="4" name="Image 0" descr="preencoded.png"/>
          <p:cNvPicPr>
            <a:picLocks noChangeAspect="1"/>
          </p:cNvPicPr>
          <p:nvPr/>
        </p:nvPicPr>
        <p:blipFill>
          <a:blip r:embed="rId3"/>
          <a:stretch>
            <a:fillRect/>
          </a:stretch>
        </p:blipFill>
        <p:spPr>
          <a:xfrm>
            <a:off x="457200" y="457200"/>
            <a:ext cx="594360" cy="594360"/>
          </a:xfrm>
          <a:prstGeom prst="rect">
            <a:avLst/>
          </a:prstGeom>
        </p:spPr>
      </p:pic>
      <p:sp>
        <p:nvSpPr>
          <p:cNvPr id="5" name="Text 2"/>
          <p:cNvSpPr/>
          <p:nvPr/>
        </p:nvSpPr>
        <p:spPr>
          <a:xfrm>
            <a:off x="1143000" y="457200"/>
            <a:ext cx="7315200" cy="5943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a:t>
            </a:r>
            <a:endParaRPr lang="en-US" sz="2600" dirty="0"/>
          </a:p>
        </p:txBody>
      </p:sp>
      <p:sp>
        <p:nvSpPr>
          <p:cNvPr id="6" name="Text 3"/>
          <p:cNvSpPr/>
          <p:nvPr/>
        </p:nvSpPr>
        <p:spPr>
          <a:xfrm>
            <a:off x="457200" y="1188720"/>
            <a:ext cx="8229600" cy="777240"/>
          </a:xfrm>
          <a:prstGeom prst="rect">
            <a:avLst/>
          </a:prstGeom>
          <a:noFill/>
          <a:ln/>
        </p:spPr>
        <p:txBody>
          <a:bodyPr wrap="square" rtlCol="0" anchor="ctr"/>
          <a:lstStyle/>
          <a:p>
            <a:pPr marL="0" indent="0">
              <a:buNone/>
            </a:pPr>
            <a:r>
              <a:rPr lang="en-US" sz="2000" b="1" i="1" dirty="0">
                <a:solidFill>
                  <a:srgbClr val="E9C46A"/>
                </a:solidFill>
                <a:latin typeface="Calibri" pitchFamily="34" charset="0"/>
                <a:ea typeface="Calibri" pitchFamily="34" charset="-122"/>
                <a:cs typeface="Calibri" pitchFamily="34" charset="-120"/>
              </a:rPr>
              <a:t>Climate scenario significantly affects pear growth</a:t>
            </a:r>
            <a:endParaRPr lang="en-US" sz="2000" dirty="0"/>
          </a:p>
          <a:p>
            <a:pPr marL="0" indent="0">
              <a:buNone/>
            </a:pPr>
            <a:r>
              <a:rPr lang="en-US" sz="2000" b="1" i="1" dirty="0">
                <a:solidFill>
                  <a:srgbClr val="E9C46A"/>
                </a:solidFill>
                <a:latin typeface="Calibri" pitchFamily="34" charset="0"/>
                <a:ea typeface="Calibri" pitchFamily="34" charset="-122"/>
                <a:cs typeface="Calibri" pitchFamily="34" charset="-120"/>
              </a:rPr>
              <a:t>through differences in linear growth rates.</a:t>
            </a:r>
            <a:endParaRPr lang="en-US" sz="2000" dirty="0"/>
          </a:p>
        </p:txBody>
      </p:sp>
      <p:sp>
        <p:nvSpPr>
          <p:cNvPr id="7" name="Shape 4"/>
          <p:cNvSpPr/>
          <p:nvPr/>
        </p:nvSpPr>
        <p:spPr>
          <a:xfrm>
            <a:off x="457200" y="2121408"/>
            <a:ext cx="329184" cy="329184"/>
          </a:xfrm>
          <a:prstGeom prst="ellipse">
            <a:avLst/>
          </a:prstGeom>
          <a:solidFill>
            <a:srgbClr val="2D9E6B"/>
          </a:solidFill>
          <a:ln w="12700">
            <a:solidFill>
              <a:srgbClr val="2D9E6B"/>
            </a:solidFill>
            <a:prstDash val="solid"/>
          </a:ln>
        </p:spPr>
      </p:sp>
      <p:sp>
        <p:nvSpPr>
          <p:cNvPr id="8" name="Text 5"/>
          <p:cNvSpPr/>
          <p:nvPr/>
        </p:nvSpPr>
        <p:spPr>
          <a:xfrm>
            <a:off x="457200" y="212140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S2</a:t>
            </a:r>
            <a:endParaRPr lang="en-US" sz="900" dirty="0"/>
          </a:p>
        </p:txBody>
      </p:sp>
      <p:sp>
        <p:nvSpPr>
          <p:cNvPr id="9" name="Text 6"/>
          <p:cNvSpPr/>
          <p:nvPr/>
        </p:nvSpPr>
        <p:spPr>
          <a:xfrm>
            <a:off x="914400" y="2084832"/>
            <a:ext cx="78638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Scenario 2 (CO₂ removal) — most favorable: largest baseline size (+0.651) and fastest growth rate (+0.051/week)</a:t>
            </a:r>
            <a:endParaRPr lang="en-US" sz="1250" dirty="0"/>
          </a:p>
        </p:txBody>
      </p:sp>
      <p:sp>
        <p:nvSpPr>
          <p:cNvPr id="10" name="Shape 7"/>
          <p:cNvSpPr/>
          <p:nvPr/>
        </p:nvSpPr>
        <p:spPr>
          <a:xfrm>
            <a:off x="457200" y="2779776"/>
            <a:ext cx="329184" cy="329184"/>
          </a:xfrm>
          <a:prstGeom prst="ellipse">
            <a:avLst/>
          </a:prstGeom>
          <a:solidFill>
            <a:srgbClr val="1A72B8"/>
          </a:solidFill>
          <a:ln w="12700">
            <a:solidFill>
              <a:srgbClr val="1A72B8"/>
            </a:solidFill>
            <a:prstDash val="solid"/>
          </a:ln>
        </p:spPr>
      </p:sp>
      <p:sp>
        <p:nvSpPr>
          <p:cNvPr id="11" name="Text 8"/>
          <p:cNvSpPr/>
          <p:nvPr/>
        </p:nvSpPr>
        <p:spPr>
          <a:xfrm>
            <a:off x="457200" y="2779776"/>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S4</a:t>
            </a:r>
            <a:endParaRPr lang="en-US" sz="900" dirty="0"/>
          </a:p>
        </p:txBody>
      </p:sp>
      <p:sp>
        <p:nvSpPr>
          <p:cNvPr id="12" name="Text 9"/>
          <p:cNvSpPr/>
          <p:nvPr/>
        </p:nvSpPr>
        <p:spPr>
          <a:xfrm>
            <a:off x="914400" y="2743200"/>
            <a:ext cx="78638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Scenario 4 (transport) — moderate advantage: larger baseline (+0.185) and modest slope gain (+0.015/week)</a:t>
            </a:r>
            <a:endParaRPr lang="en-US" sz="1250" dirty="0"/>
          </a:p>
        </p:txBody>
      </p:sp>
      <p:sp>
        <p:nvSpPr>
          <p:cNvPr id="13" name="Shape 10"/>
          <p:cNvSpPr/>
          <p:nvPr/>
        </p:nvSpPr>
        <p:spPr>
          <a:xfrm>
            <a:off x="457200" y="3438144"/>
            <a:ext cx="329184" cy="329184"/>
          </a:xfrm>
          <a:prstGeom prst="ellipse">
            <a:avLst/>
          </a:prstGeom>
          <a:solidFill>
            <a:srgbClr val="E07020"/>
          </a:solidFill>
          <a:ln w="12700">
            <a:solidFill>
              <a:srgbClr val="E07020"/>
            </a:solidFill>
            <a:prstDash val="solid"/>
          </a:ln>
        </p:spPr>
      </p:sp>
      <p:sp>
        <p:nvSpPr>
          <p:cNvPr id="14" name="Text 11"/>
          <p:cNvSpPr/>
          <p:nvPr/>
        </p:nvSpPr>
        <p:spPr>
          <a:xfrm>
            <a:off x="457200" y="3438144"/>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S3</a:t>
            </a:r>
            <a:endParaRPr lang="en-US" sz="900" dirty="0"/>
          </a:p>
        </p:txBody>
      </p:sp>
      <p:sp>
        <p:nvSpPr>
          <p:cNvPr id="15" name="Text 12"/>
          <p:cNvSpPr/>
          <p:nvPr/>
        </p:nvSpPr>
        <p:spPr>
          <a:xfrm>
            <a:off x="914400" y="3401568"/>
            <a:ext cx="78638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Scenario 3 (sustainable energy) — growth rate indistinguishable from no-intervention (p = 0.885)</a:t>
            </a:r>
            <a:endParaRPr lang="en-US" sz="1250" dirty="0"/>
          </a:p>
        </p:txBody>
      </p:sp>
      <p:sp>
        <p:nvSpPr>
          <p:cNvPr id="16" name="Shape 13"/>
          <p:cNvSpPr/>
          <p:nvPr/>
        </p:nvSpPr>
        <p:spPr>
          <a:xfrm>
            <a:off x="457200" y="4096512"/>
            <a:ext cx="329184" cy="329184"/>
          </a:xfrm>
          <a:prstGeom prst="ellipse">
            <a:avLst/>
          </a:prstGeom>
          <a:solidFill>
            <a:srgbClr val="4A4E69"/>
          </a:solidFill>
          <a:ln w="12700">
            <a:solidFill>
              <a:srgbClr val="4A4E69"/>
            </a:solidFill>
            <a:prstDash val="solid"/>
          </a:ln>
        </p:spPr>
      </p:sp>
      <p:sp>
        <p:nvSpPr>
          <p:cNvPr id="17" name="Text 14"/>
          <p:cNvSpPr/>
          <p:nvPr/>
        </p:nvSpPr>
        <p:spPr>
          <a:xfrm>
            <a:off x="457200" y="4096512"/>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a:t>
            </a:r>
            <a:endParaRPr lang="en-US" sz="900" dirty="0"/>
          </a:p>
        </p:txBody>
      </p:sp>
      <p:sp>
        <p:nvSpPr>
          <p:cNvPr id="18" name="Text 15"/>
          <p:cNvSpPr/>
          <p:nvPr/>
        </p:nvSpPr>
        <p:spPr>
          <a:xfrm>
            <a:off x="914400" y="4059936"/>
            <a:ext cx="78638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Doyenne pears consistently smaller (−1.112) and slower-growing (−0.051/week) than Conference across all scenarios</a:t>
            </a:r>
            <a:endParaRPr lang="en-US" sz="1250" dirty="0"/>
          </a:p>
        </p:txBody>
      </p:sp>
      <p:sp>
        <p:nvSpPr>
          <p:cNvPr id="19" name="Shape 16"/>
          <p:cNvSpPr/>
          <p:nvPr/>
        </p:nvSpPr>
        <p:spPr>
          <a:xfrm>
            <a:off x="457200" y="4663440"/>
            <a:ext cx="8229600" cy="36576"/>
          </a:xfrm>
          <a:prstGeom prst="rect">
            <a:avLst/>
          </a:prstGeom>
          <a:solidFill>
            <a:srgbClr val="52B788"/>
          </a:solidFill>
          <a:ln w="12700">
            <a:solidFill>
              <a:srgbClr val="52B788"/>
            </a:solidFill>
            <a:prstDash val="solid"/>
          </a:ln>
        </p:spPr>
      </p:sp>
      <p:sp>
        <p:nvSpPr>
          <p:cNvPr id="20" name="Text 17"/>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52B788"/>
                </a:solidFill>
                <a:latin typeface="Calibri" pitchFamily="34" charset="0"/>
                <a:ea typeface="Calibri" pitchFamily="34" charset="-122"/>
                <a:cs typeface="Calibri" pitchFamily="34" charset="-120"/>
              </a:rPr>
              <a:t>Group 19  |  Hasselt University  |  PMHD 3565  |  2025–2026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2058</Words>
  <Application>Microsoft Office PowerPoint</Application>
  <PresentationFormat>On-screen Show (16:9)</PresentationFormat>
  <Paragraphs>286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Pear Growth Over Time — Climate Scenarios</dc:title>
  <dc:subject>PptxGenJS Presentation</dc:subject>
  <dc:creator>PptxGenJS</dc:creator>
  <cp:lastModifiedBy>tamim hussein</cp:lastModifiedBy>
  <cp:revision>3</cp:revision>
  <dcterms:created xsi:type="dcterms:W3CDTF">2026-05-30T17:29:25Z</dcterms:created>
  <dcterms:modified xsi:type="dcterms:W3CDTF">2026-06-01T10:27:38Z</dcterms:modified>
</cp:coreProperties>
</file>